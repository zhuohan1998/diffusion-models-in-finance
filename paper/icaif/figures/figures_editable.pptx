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6"/>
  </p:normalViewPr>
  <p:slideViewPr>
    <p:cSldViewPr snapToGrid="0">
      <p:cViewPr varScale="1">
        <p:scale>
          <a:sx n="101" d="100"/>
          <a:sy n="101" d="100"/>
        </p:scale>
        <p:origin x="9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Derived from paper/icaif/figures/data_first_taxonomy.png and the taxonomy text in paper/icaif/main.tex.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Derived from paper/icaif/figures/corpus_coverage_map.png and corpus buckets in paper/icaif/companion/corpus_coding.csv.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Grp="1"/>
          </p:cNvSpPr>
          <p:nvPr/>
        </p:nvSpPr>
        <p:spPr>
          <a:xfrm>
            <a:off x="666750" y="115252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0B163F"/>
                </a:solidFill>
              </a:defRPr>
            </a:pPr>
            <a:r>
              <a:rPr sz="1650" b="1">
                <a:solidFill>
                  <a:srgbClr val="0B163F"/>
                </a:solidFill>
              </a:rPr>
              <a:t>Financial data object</a:t>
            </a:r>
            <a:endParaRPr sz="1650" b="1">
              <a:solidFill>
                <a:srgbClr val="0B163F"/>
              </a:solidFill>
            </a:endParaRPr>
          </a:p>
        </p:txBody>
      </p:sp>
      <p:sp>
        <p:nvSpPr>
          <p:cNvPr id="4" name="Rectangle 3"/>
          <p:cNvSpPr>
            <a:spLocks noGrp="1"/>
          </p:cNvSpPr>
          <p:nvPr/>
        </p:nvSpPr>
        <p:spPr>
          <a:xfrm>
            <a:off x="4667250" y="115252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0B163F"/>
                </a:solidFill>
              </a:defRPr>
            </a:pPr>
            <a:r>
              <a:rPr sz="1650" b="1">
                <a:solidFill>
                  <a:srgbClr val="0B163F"/>
                </a:solidFill>
              </a:rPr>
              <a:t>Application</a:t>
            </a:r>
            <a:endParaRPr sz="1650" b="1">
              <a:solidFill>
                <a:srgbClr val="0B163F"/>
              </a:solidFill>
            </a:endParaRPr>
          </a:p>
        </p:txBody>
      </p:sp>
      <p:sp>
        <p:nvSpPr>
          <p:cNvPr id="5" name="Rectangle 4"/>
          <p:cNvSpPr>
            <a:spLocks noGrp="1"/>
          </p:cNvSpPr>
          <p:nvPr/>
        </p:nvSpPr>
        <p:spPr>
          <a:xfrm>
            <a:off x="8667750" y="115252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0B163F"/>
                </a:solidFill>
              </a:defRPr>
            </a:pPr>
            <a:r>
              <a:rPr sz="1650" b="1">
                <a:solidFill>
                  <a:srgbClr val="0B163F"/>
                </a:solidFill>
              </a:rPr>
              <a:t>Method family</a:t>
            </a:r>
            <a:endParaRPr sz="1650" b="1">
              <a:solidFill>
                <a:srgbClr val="0B163F"/>
              </a:solidFill>
            </a:endParaRPr>
          </a:p>
        </p:txBody>
      </p:sp>
      <p:sp>
        <p:nvSpPr>
          <p:cNvPr id="6" name="Rounded Rectangle 5"/>
          <p:cNvSpPr>
            <a:spLocks noGrp="1"/>
          </p:cNvSpPr>
          <p:nvPr/>
        </p:nvSpPr>
        <p:spPr>
          <a:xfrm>
            <a:off x="666750" y="1476375"/>
            <a:ext cx="2857500" cy="666750"/>
          </a:xfrm>
          <a:prstGeom prst="roundRect">
            <a:avLst>
              <a:gd name="adj" fmla="val 17143"/>
            </a:avLst>
          </a:prstGeom>
          <a:solidFill>
            <a:srgbClr val="EAF4FF"/>
          </a:solidFill>
          <a:ln w="12383">
            <a:solidFill>
              <a:srgbClr val="0B57A3"/>
            </a:solidFill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0B163F"/>
                </a:solidFill>
              </a:defRPr>
            </a:pPr>
            <a:r>
              <a:rPr sz="1200" b="1">
                <a:solidFill>
                  <a:srgbClr val="0B163F"/>
                </a:solidFill>
              </a:rPr>
              <a:t>Financial time series</a:t>
            </a:r>
            <a:endParaRPr sz="1200" b="1">
              <a:solidFill>
                <a:srgbClr val="0B163F"/>
              </a:solidFill>
            </a:endParaRPr>
          </a:p>
          <a:p>
            <a:pPr algn="ctr">
              <a:defRPr sz="1200" b="1">
                <a:solidFill>
                  <a:srgbClr val="0B163F"/>
                </a:solidFill>
              </a:defRPr>
            </a:pPr>
            <a:r>
              <a:rPr sz="1200" b="1">
                <a:solidFill>
                  <a:srgbClr val="0B163F"/>
                </a:solidFill>
              </a:rPr>
              <a:t>Prices, returns, factors, scenarios</a:t>
            </a:r>
            <a:endParaRPr sz="1200" b="1">
              <a:solidFill>
                <a:srgbClr val="0B163F"/>
              </a:solidFill>
            </a:endParaRPr>
          </a:p>
        </p:txBody>
      </p:sp>
      <p:sp>
        <p:nvSpPr>
          <p:cNvPr id="7" name="Rounded Rectangle 6"/>
          <p:cNvSpPr>
            <a:spLocks noGrp="1"/>
          </p:cNvSpPr>
          <p:nvPr/>
        </p:nvSpPr>
        <p:spPr>
          <a:xfrm>
            <a:off x="666750" y="2314575"/>
            <a:ext cx="2857500" cy="666750"/>
          </a:xfrm>
          <a:prstGeom prst="roundRect">
            <a:avLst>
              <a:gd name="adj" fmla="val 17143"/>
            </a:avLst>
          </a:prstGeom>
          <a:solidFill>
            <a:srgbClr val="EAF4FF"/>
          </a:solidFill>
          <a:ln w="12383">
            <a:solidFill>
              <a:srgbClr val="0B57A3"/>
            </a:solidFill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0B163F"/>
                </a:solidFill>
              </a:defRPr>
            </a:pPr>
            <a:r>
              <a:rPr sz="1200" b="1">
                <a:solidFill>
                  <a:srgbClr val="0B163F"/>
                </a:solidFill>
              </a:rPr>
              <a:t>Limit order books</a:t>
            </a:r>
            <a:endParaRPr sz="1200" b="1">
              <a:solidFill>
                <a:srgbClr val="0B163F"/>
              </a:solidFill>
            </a:endParaRPr>
          </a:p>
          <a:p>
            <a:pPr algn="ctr">
              <a:defRPr sz="1200" b="1">
                <a:solidFill>
                  <a:srgbClr val="0B163F"/>
                </a:solidFill>
              </a:defRPr>
            </a:pPr>
            <a:r>
              <a:rPr lang="en-US" sz="1200" b="1">
                <a:solidFill>
                  <a:srgbClr val="0B163F"/>
                </a:solidFill>
              </a:rPr>
              <a:t>O</a:t>
            </a:r>
            <a:r>
              <a:rPr sz="1200" b="1">
                <a:solidFill>
                  <a:srgbClr val="0B163F"/>
                </a:solidFill>
              </a:rPr>
              <a:t>rder flow</a:t>
            </a:r>
            <a:r>
              <a:rPr lang="en-US" sz="1200" b="1">
                <a:solidFill>
                  <a:srgbClr val="0B163F"/>
                </a:solidFill>
              </a:rPr>
              <a:t>, snapshots</a:t>
            </a:r>
            <a:endParaRPr lang="en-US" sz="1200" b="1">
              <a:solidFill>
                <a:srgbClr val="0B163F"/>
              </a:solidFill>
              <a:ea typeface="宋体" panose="02010600030101010101" pitchFamily="2" charset="-122"/>
            </a:endParaRPr>
          </a:p>
        </p:txBody>
      </p:sp>
      <p:sp>
        <p:nvSpPr>
          <p:cNvPr id="8" name="Rounded Rectangle 7"/>
          <p:cNvSpPr>
            <a:spLocks noGrp="1"/>
          </p:cNvSpPr>
          <p:nvPr/>
        </p:nvSpPr>
        <p:spPr>
          <a:xfrm>
            <a:off x="666750" y="3152775"/>
            <a:ext cx="2857500" cy="666750"/>
          </a:xfrm>
          <a:prstGeom prst="roundRect">
            <a:avLst>
              <a:gd name="adj" fmla="val 17143"/>
            </a:avLst>
          </a:prstGeom>
          <a:solidFill>
            <a:srgbClr val="EAF4FF"/>
          </a:solidFill>
          <a:ln w="12383">
            <a:solidFill>
              <a:srgbClr val="0B57A3"/>
            </a:solidFill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0B163F"/>
                </a:solidFill>
              </a:defRPr>
            </a:pPr>
            <a:r>
              <a:rPr sz="1200" b="1">
                <a:solidFill>
                  <a:srgbClr val="0B163F"/>
                </a:solidFill>
              </a:rPr>
              <a:t>Tabular data</a:t>
            </a:r>
            <a:endParaRPr sz="1200" b="1">
              <a:solidFill>
                <a:srgbClr val="0B163F"/>
              </a:solidFill>
            </a:endParaRPr>
          </a:p>
          <a:p>
            <a:pPr algn="ctr">
              <a:defRPr sz="1200" b="1">
                <a:solidFill>
                  <a:srgbClr val="0B163F"/>
                </a:solidFill>
              </a:defRPr>
            </a:pPr>
            <a:r>
              <a:rPr sz="1200" b="1">
                <a:solidFill>
                  <a:srgbClr val="0B163F"/>
                </a:solidFill>
              </a:rPr>
              <a:t>Credit, payment, customer, fraud</a:t>
            </a:r>
            <a:endParaRPr sz="1200" b="1">
              <a:solidFill>
                <a:srgbClr val="0B163F"/>
              </a:solidFill>
            </a:endParaRPr>
          </a:p>
        </p:txBody>
      </p:sp>
      <p:sp>
        <p:nvSpPr>
          <p:cNvPr id="9" name="Rounded Rectangle 8"/>
          <p:cNvSpPr>
            <a:spLocks noGrp="1"/>
          </p:cNvSpPr>
          <p:nvPr/>
        </p:nvSpPr>
        <p:spPr>
          <a:xfrm>
            <a:off x="666750" y="3990975"/>
            <a:ext cx="2857500" cy="666750"/>
          </a:xfrm>
          <a:prstGeom prst="roundRect">
            <a:avLst>
              <a:gd name="adj" fmla="val 17143"/>
            </a:avLst>
          </a:prstGeom>
          <a:solidFill>
            <a:srgbClr val="EAF4FF"/>
          </a:solidFill>
          <a:ln w="12383">
            <a:solidFill>
              <a:srgbClr val="0B57A3"/>
            </a:solidFill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0B163F"/>
                </a:solidFill>
              </a:defRPr>
            </a:pPr>
            <a:r>
              <a:rPr sz="1200" b="1">
                <a:solidFill>
                  <a:srgbClr val="0B163F"/>
                </a:solidFill>
              </a:rPr>
              <a:t>Structured data</a:t>
            </a:r>
            <a:endParaRPr sz="1200" b="1">
              <a:solidFill>
                <a:srgbClr val="0B163F"/>
              </a:solidFill>
            </a:endParaRPr>
          </a:p>
          <a:p>
            <a:pPr algn="ctr">
              <a:defRPr sz="1200" b="1">
                <a:solidFill>
                  <a:srgbClr val="0B163F"/>
                </a:solidFill>
              </a:defRPr>
            </a:pPr>
            <a:r>
              <a:rPr sz="1200" b="1">
                <a:solidFill>
                  <a:srgbClr val="0B163F"/>
                </a:solidFill>
              </a:rPr>
              <a:t>Matrices, surfaces, curves</a:t>
            </a:r>
            <a:endParaRPr sz="1200" b="1">
              <a:solidFill>
                <a:srgbClr val="0B163F"/>
              </a:solidFill>
            </a:endParaRPr>
          </a:p>
        </p:txBody>
      </p:sp>
      <p:sp>
        <p:nvSpPr>
          <p:cNvPr id="10" name="Rounded Rectangle 9"/>
          <p:cNvSpPr>
            <a:spLocks noGrp="1"/>
          </p:cNvSpPr>
          <p:nvPr/>
        </p:nvSpPr>
        <p:spPr>
          <a:xfrm>
            <a:off x="4667250" y="1476375"/>
            <a:ext cx="2857500" cy="666750"/>
          </a:xfrm>
          <a:prstGeom prst="roundRect">
            <a:avLst>
              <a:gd name="adj" fmla="val 17143"/>
            </a:avLst>
          </a:prstGeom>
          <a:solidFill>
            <a:srgbClr val="E8FBF7"/>
          </a:solidFill>
          <a:ln w="12383">
            <a:solidFill>
              <a:srgbClr val="078A7B"/>
            </a:solidFill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0B163F"/>
                </a:solidFill>
              </a:defRPr>
            </a:pPr>
            <a:r>
              <a:rPr sz="1200" b="1">
                <a:solidFill>
                  <a:srgbClr val="0B163F"/>
                </a:solidFill>
              </a:rPr>
              <a:t>Generation</a:t>
            </a:r>
            <a:endParaRPr sz="1200" b="1">
              <a:solidFill>
                <a:srgbClr val="0B163F"/>
              </a:solidFill>
            </a:endParaRPr>
          </a:p>
          <a:p>
            <a:pPr algn="ctr">
              <a:defRPr sz="1200" b="1">
                <a:solidFill>
                  <a:srgbClr val="0B163F"/>
                </a:solidFill>
              </a:defRPr>
            </a:pPr>
            <a:r>
              <a:rPr sz="1200" b="1">
                <a:solidFill>
                  <a:srgbClr val="0B163F"/>
                </a:solidFill>
              </a:rPr>
              <a:t>Synthetic data and market simulation</a:t>
            </a:r>
            <a:endParaRPr sz="1200" b="1">
              <a:solidFill>
                <a:srgbClr val="0B163F"/>
              </a:solidFill>
            </a:endParaRPr>
          </a:p>
        </p:txBody>
      </p:sp>
      <p:sp>
        <p:nvSpPr>
          <p:cNvPr id="11" name="Rounded Rectangle 10"/>
          <p:cNvSpPr>
            <a:spLocks noGrp="1"/>
          </p:cNvSpPr>
          <p:nvPr/>
        </p:nvSpPr>
        <p:spPr>
          <a:xfrm>
            <a:off x="4667250" y="2314575"/>
            <a:ext cx="2857500" cy="666750"/>
          </a:xfrm>
          <a:prstGeom prst="roundRect">
            <a:avLst>
              <a:gd name="adj" fmla="val 17143"/>
            </a:avLst>
          </a:prstGeom>
          <a:solidFill>
            <a:srgbClr val="E8FBF7"/>
          </a:solidFill>
          <a:ln w="12383">
            <a:solidFill>
              <a:srgbClr val="078A7B"/>
            </a:solidFill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0B163F"/>
                </a:solidFill>
              </a:defRPr>
            </a:pPr>
            <a:r>
              <a:rPr sz="1200" b="1">
                <a:solidFill>
                  <a:srgbClr val="0B163F"/>
                </a:solidFill>
              </a:rPr>
              <a:t>Prediction and trading</a:t>
            </a:r>
            <a:endParaRPr sz="1200" b="1">
              <a:solidFill>
                <a:srgbClr val="0B163F"/>
              </a:solidFill>
            </a:endParaRPr>
          </a:p>
          <a:p>
            <a:pPr algn="ctr">
              <a:defRPr sz="1200" b="1">
                <a:solidFill>
                  <a:srgbClr val="0B163F"/>
                </a:solidFill>
              </a:defRPr>
            </a:pPr>
            <a:r>
              <a:rPr sz="1200" b="1">
                <a:solidFill>
                  <a:srgbClr val="0B163F"/>
                </a:solidFill>
              </a:rPr>
              <a:t>Forecasts, signals, policies</a:t>
            </a:r>
            <a:endParaRPr sz="1200" b="1">
              <a:solidFill>
                <a:srgbClr val="0B163F"/>
              </a:solidFill>
            </a:endParaRPr>
          </a:p>
        </p:txBody>
      </p:sp>
      <p:sp>
        <p:nvSpPr>
          <p:cNvPr id="12" name="Rounded Rectangle 11"/>
          <p:cNvSpPr>
            <a:spLocks noGrp="1"/>
          </p:cNvSpPr>
          <p:nvPr/>
        </p:nvSpPr>
        <p:spPr>
          <a:xfrm>
            <a:off x="4667250" y="3152775"/>
            <a:ext cx="2857500" cy="666750"/>
          </a:xfrm>
          <a:prstGeom prst="roundRect">
            <a:avLst>
              <a:gd name="adj" fmla="val 17143"/>
            </a:avLst>
          </a:prstGeom>
          <a:solidFill>
            <a:srgbClr val="E8FBF7"/>
          </a:solidFill>
          <a:ln w="12383">
            <a:solidFill>
              <a:srgbClr val="078A7B"/>
            </a:solidFill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0B163F"/>
                </a:solidFill>
              </a:defRPr>
            </a:pPr>
            <a:r>
              <a:rPr sz="1200" b="1">
                <a:solidFill>
                  <a:srgbClr val="0B163F"/>
                </a:solidFill>
              </a:rPr>
              <a:t>Risk and pricing</a:t>
            </a:r>
            <a:endParaRPr sz="1200" b="1">
              <a:solidFill>
                <a:srgbClr val="0B163F"/>
              </a:solidFill>
            </a:endParaRPr>
          </a:p>
          <a:p>
            <a:pPr algn="ctr">
              <a:defRPr sz="1200" b="1">
                <a:solidFill>
                  <a:srgbClr val="0B163F"/>
                </a:solidFill>
              </a:defRPr>
            </a:pPr>
            <a:r>
              <a:rPr sz="1200" b="1">
                <a:solidFill>
                  <a:srgbClr val="0B163F"/>
                </a:solidFill>
              </a:rPr>
              <a:t>Stress paths, valuation, scenarios</a:t>
            </a:r>
            <a:endParaRPr sz="1200" b="1">
              <a:solidFill>
                <a:srgbClr val="0B163F"/>
              </a:solidFill>
            </a:endParaRPr>
          </a:p>
        </p:txBody>
      </p:sp>
      <p:sp>
        <p:nvSpPr>
          <p:cNvPr id="13" name="Rounded Rectangle 12"/>
          <p:cNvSpPr>
            <a:spLocks noGrp="1"/>
          </p:cNvSpPr>
          <p:nvPr/>
        </p:nvSpPr>
        <p:spPr>
          <a:xfrm>
            <a:off x="4667250" y="3990975"/>
            <a:ext cx="2857500" cy="666750"/>
          </a:xfrm>
          <a:prstGeom prst="roundRect">
            <a:avLst>
              <a:gd name="adj" fmla="val 17143"/>
            </a:avLst>
          </a:prstGeom>
          <a:solidFill>
            <a:srgbClr val="E8FBF7"/>
          </a:solidFill>
          <a:ln w="12383">
            <a:solidFill>
              <a:srgbClr val="078A7B"/>
            </a:solidFill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0B163F"/>
                </a:solidFill>
              </a:defRPr>
            </a:pPr>
            <a:r>
              <a:rPr sz="1200" b="1">
                <a:solidFill>
                  <a:srgbClr val="0B163F"/>
                </a:solidFill>
              </a:rPr>
              <a:t>Privacy and trust</a:t>
            </a:r>
            <a:endParaRPr sz="1200" b="1">
              <a:solidFill>
                <a:srgbClr val="0B163F"/>
              </a:solidFill>
            </a:endParaRPr>
          </a:p>
          <a:p>
            <a:pPr algn="ctr">
              <a:defRPr sz="1200" b="1">
                <a:solidFill>
                  <a:srgbClr val="0B163F"/>
                </a:solidFill>
              </a:defRPr>
            </a:pPr>
            <a:r>
              <a:rPr sz="1200" b="1">
                <a:solidFill>
                  <a:srgbClr val="0B163F"/>
                </a:solidFill>
              </a:rPr>
              <a:t>Utility, leakage, constraints</a:t>
            </a:r>
            <a:endParaRPr sz="1200" b="1">
              <a:solidFill>
                <a:srgbClr val="0B163F"/>
              </a:solidFill>
            </a:endParaRPr>
          </a:p>
        </p:txBody>
      </p:sp>
      <p:sp>
        <p:nvSpPr>
          <p:cNvPr id="14" name="Rounded Rectangle 13"/>
          <p:cNvSpPr>
            <a:spLocks noGrp="1"/>
          </p:cNvSpPr>
          <p:nvPr/>
        </p:nvSpPr>
        <p:spPr>
          <a:xfrm>
            <a:off x="8667750" y="1476375"/>
            <a:ext cx="2857500" cy="666750"/>
          </a:xfrm>
          <a:prstGeom prst="roundRect">
            <a:avLst>
              <a:gd name="adj" fmla="val 17143"/>
            </a:avLst>
          </a:prstGeom>
          <a:solidFill>
            <a:srgbClr val="FFF8DF"/>
          </a:solidFill>
          <a:ln w="12383">
            <a:solidFill>
              <a:srgbClr val="D8A400"/>
            </a:solidFill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0B163F"/>
                </a:solidFill>
              </a:defRPr>
            </a:pPr>
            <a:r>
              <a:rPr sz="1200" b="1">
                <a:solidFill>
                  <a:srgbClr val="0B163F"/>
                </a:solidFill>
              </a:rPr>
              <a:t>DDPM / score-SDE</a:t>
            </a:r>
            <a:endParaRPr sz="1200" b="1">
              <a:solidFill>
                <a:srgbClr val="0B163F"/>
              </a:solidFill>
            </a:endParaRPr>
          </a:p>
          <a:p>
            <a:pPr algn="ctr">
              <a:defRPr sz="1200" b="1">
                <a:solidFill>
                  <a:srgbClr val="0B163F"/>
                </a:solidFill>
              </a:defRPr>
            </a:pPr>
            <a:r>
              <a:rPr sz="1200" b="1">
                <a:solidFill>
                  <a:srgbClr val="0B163F"/>
                </a:solidFill>
              </a:rPr>
              <a:t>Denoising and reverse-time sampling</a:t>
            </a:r>
            <a:endParaRPr sz="1200" b="1">
              <a:solidFill>
                <a:srgbClr val="0B163F"/>
              </a:solidFill>
            </a:endParaRPr>
          </a:p>
        </p:txBody>
      </p:sp>
      <p:sp>
        <p:nvSpPr>
          <p:cNvPr id="15" name="Rounded Rectangle 14"/>
          <p:cNvSpPr>
            <a:spLocks noGrp="1"/>
          </p:cNvSpPr>
          <p:nvPr/>
        </p:nvSpPr>
        <p:spPr>
          <a:xfrm>
            <a:off x="8667750" y="2314575"/>
            <a:ext cx="2857500" cy="666750"/>
          </a:xfrm>
          <a:prstGeom prst="roundRect">
            <a:avLst>
              <a:gd name="adj" fmla="val 17143"/>
            </a:avLst>
          </a:prstGeom>
          <a:solidFill>
            <a:srgbClr val="FFF8DF"/>
          </a:solidFill>
          <a:ln w="12383">
            <a:solidFill>
              <a:srgbClr val="D8A400"/>
            </a:solidFill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0B163F"/>
                </a:solidFill>
              </a:defRPr>
            </a:pPr>
            <a:r>
              <a:rPr sz="1200" b="1">
                <a:solidFill>
                  <a:srgbClr val="0B163F"/>
                </a:solidFill>
              </a:rPr>
              <a:t>Conditional guidance</a:t>
            </a:r>
            <a:endParaRPr sz="1200" b="1">
              <a:solidFill>
                <a:srgbClr val="0B163F"/>
              </a:solidFill>
            </a:endParaRPr>
          </a:p>
          <a:p>
            <a:pPr algn="ctr">
              <a:defRPr sz="1200" b="1">
                <a:solidFill>
                  <a:srgbClr val="0B163F"/>
                </a:solidFill>
              </a:defRPr>
            </a:pPr>
            <a:r>
              <a:rPr sz="1200" b="1">
                <a:solidFill>
                  <a:srgbClr val="0B163F"/>
                </a:solidFill>
              </a:rPr>
              <a:t>Controls, regimes, masks, constraints</a:t>
            </a:r>
            <a:endParaRPr sz="1200" b="1">
              <a:solidFill>
                <a:srgbClr val="0B163F"/>
              </a:solidFill>
            </a:endParaRPr>
          </a:p>
        </p:txBody>
      </p:sp>
      <p:sp>
        <p:nvSpPr>
          <p:cNvPr id="16" name="Rounded Rectangle 15"/>
          <p:cNvSpPr>
            <a:spLocks noGrp="1"/>
          </p:cNvSpPr>
          <p:nvPr/>
        </p:nvSpPr>
        <p:spPr>
          <a:xfrm>
            <a:off x="8667750" y="3152775"/>
            <a:ext cx="2857500" cy="666750"/>
          </a:xfrm>
          <a:prstGeom prst="roundRect">
            <a:avLst>
              <a:gd name="adj" fmla="val 17143"/>
            </a:avLst>
          </a:prstGeom>
          <a:solidFill>
            <a:srgbClr val="FFF8DF"/>
          </a:solidFill>
          <a:ln w="12383">
            <a:solidFill>
              <a:srgbClr val="D8A400"/>
            </a:solidFill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0B163F"/>
                </a:solidFill>
              </a:defRPr>
            </a:pPr>
            <a:r>
              <a:rPr sz="1200" b="1">
                <a:solidFill>
                  <a:srgbClr val="0B163F"/>
                </a:solidFill>
              </a:rPr>
              <a:t>Latent / tabular diffusion</a:t>
            </a:r>
            <a:endParaRPr sz="1200" b="1">
              <a:solidFill>
                <a:srgbClr val="0B163F"/>
              </a:solidFill>
            </a:endParaRPr>
          </a:p>
          <a:p>
            <a:pPr algn="ctr">
              <a:defRPr sz="1200" b="1">
                <a:solidFill>
                  <a:srgbClr val="0B163F"/>
                </a:solidFill>
              </a:defRPr>
            </a:pPr>
            <a:r>
              <a:rPr sz="1200" b="1">
                <a:solidFill>
                  <a:srgbClr val="0B163F"/>
                </a:solidFill>
              </a:rPr>
              <a:t>Mixed fields and compact spaces</a:t>
            </a:r>
            <a:endParaRPr sz="1200" b="1">
              <a:solidFill>
                <a:srgbClr val="0B163F"/>
              </a:solidFill>
            </a:endParaRPr>
          </a:p>
        </p:txBody>
      </p:sp>
      <p:sp>
        <p:nvSpPr>
          <p:cNvPr id="17" name="Rounded Rectangle 16"/>
          <p:cNvSpPr>
            <a:spLocks noGrp="1"/>
          </p:cNvSpPr>
          <p:nvPr/>
        </p:nvSpPr>
        <p:spPr>
          <a:xfrm>
            <a:off x="8667750" y="3990975"/>
            <a:ext cx="2857500" cy="666750"/>
          </a:xfrm>
          <a:prstGeom prst="roundRect">
            <a:avLst>
              <a:gd name="adj" fmla="val 17143"/>
            </a:avLst>
          </a:prstGeom>
          <a:solidFill>
            <a:srgbClr val="FFF8DF"/>
          </a:solidFill>
          <a:ln w="12383">
            <a:solidFill>
              <a:srgbClr val="D8A400"/>
            </a:solidFill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0B163F"/>
                </a:solidFill>
              </a:defRPr>
            </a:pPr>
            <a:r>
              <a:rPr sz="1200" b="1">
                <a:solidFill>
                  <a:srgbClr val="0B163F"/>
                </a:solidFill>
              </a:rPr>
              <a:t>Flow matching</a:t>
            </a:r>
            <a:endParaRPr sz="1200" b="1">
              <a:solidFill>
                <a:srgbClr val="0B163F"/>
              </a:solidFill>
            </a:endParaRPr>
          </a:p>
          <a:p>
            <a:pPr algn="ctr">
              <a:defRPr sz="1200" b="1">
                <a:solidFill>
                  <a:srgbClr val="0B163F"/>
                </a:solidFill>
              </a:defRPr>
            </a:pPr>
            <a:r>
              <a:rPr sz="1200" b="1">
                <a:solidFill>
                  <a:srgbClr val="0B163F"/>
                </a:solidFill>
              </a:rPr>
              <a:t>Fast transport and decision loops</a:t>
            </a:r>
            <a:endParaRPr sz="1200" b="1">
              <a:solidFill>
                <a:srgbClr val="0B163F"/>
              </a:solidFill>
            </a:endParaRPr>
          </a:p>
        </p:txBody>
      </p:sp>
      <p:cxnSp>
        <p:nvCxnSpPr>
          <p:cNvPr id="44" name="Straight Arrow Connector 43"/>
          <p:cNvCxnSpPr>
            <a:stCxn id="6" idx="3"/>
            <a:endCxn id="10" idx="1"/>
          </p:cNvCxnSpPr>
          <p:nvPr/>
        </p:nvCxnSpPr>
        <p:spPr>
          <a:xfrm>
            <a:off x="3524250" y="1809750"/>
            <a:ext cx="1143000" cy="0"/>
          </a:xfrm>
          <a:prstGeom prst="straightConnector1">
            <a:avLst/>
          </a:prstGeom>
          <a:ln w="19050">
            <a:solidFill>
              <a:srgbClr val="8EA1B4"/>
            </a:solidFill>
            <a:prstDash val="solid"/>
          </a:ln>
        </p:spPr>
      </p:cxnSp>
      <p:cxnSp>
        <p:nvCxnSpPr>
          <p:cNvPr id="45" name="Straight Arrow Connector 44"/>
          <p:cNvCxnSpPr>
            <a:stCxn id="7" idx="3"/>
            <a:endCxn id="10" idx="1"/>
          </p:cNvCxnSpPr>
          <p:nvPr/>
        </p:nvCxnSpPr>
        <p:spPr>
          <a:xfrm flipV="1">
            <a:off x="3524250" y="1809750"/>
            <a:ext cx="1143000" cy="838200"/>
          </a:xfrm>
          <a:prstGeom prst="straightConnector1">
            <a:avLst/>
          </a:prstGeom>
          <a:ln w="19050">
            <a:solidFill>
              <a:srgbClr val="8EA1B4"/>
            </a:solidFill>
            <a:prstDash val="solid"/>
          </a:ln>
        </p:spPr>
      </p:cxnSp>
      <p:cxnSp>
        <p:nvCxnSpPr>
          <p:cNvPr id="46" name="Straight Arrow Connector 45"/>
          <p:cNvCxnSpPr>
            <a:stCxn id="8" idx="3"/>
            <a:endCxn id="13" idx="1"/>
          </p:cNvCxnSpPr>
          <p:nvPr/>
        </p:nvCxnSpPr>
        <p:spPr>
          <a:xfrm>
            <a:off x="3524250" y="3486150"/>
            <a:ext cx="1143000" cy="838200"/>
          </a:xfrm>
          <a:prstGeom prst="straightConnector1">
            <a:avLst/>
          </a:prstGeom>
          <a:ln w="19050">
            <a:solidFill>
              <a:srgbClr val="8EA1B4"/>
            </a:solidFill>
            <a:prstDash val="solid"/>
          </a:ln>
        </p:spPr>
      </p:cxnSp>
      <p:cxnSp>
        <p:nvCxnSpPr>
          <p:cNvPr id="47" name="Straight Arrow Connector 46"/>
          <p:cNvCxnSpPr>
            <a:stCxn id="9" idx="3"/>
            <a:endCxn id="12" idx="1"/>
          </p:cNvCxnSpPr>
          <p:nvPr/>
        </p:nvCxnSpPr>
        <p:spPr>
          <a:xfrm flipV="1">
            <a:off x="3524250" y="3486150"/>
            <a:ext cx="1143000" cy="838200"/>
          </a:xfrm>
          <a:prstGeom prst="straightConnector1">
            <a:avLst/>
          </a:prstGeom>
          <a:ln w="19050">
            <a:solidFill>
              <a:srgbClr val="8EA1B4"/>
            </a:solidFill>
            <a:prstDash val="solid"/>
          </a:ln>
        </p:spPr>
      </p:cxnSp>
      <p:cxnSp>
        <p:nvCxnSpPr>
          <p:cNvPr id="48" name="Straight Arrow Connector 47"/>
          <p:cNvCxnSpPr>
            <a:stCxn id="10" idx="3"/>
            <a:endCxn id="14" idx="1"/>
          </p:cNvCxnSpPr>
          <p:nvPr/>
        </p:nvCxnSpPr>
        <p:spPr>
          <a:xfrm>
            <a:off x="7524750" y="1809750"/>
            <a:ext cx="1143000" cy="0"/>
          </a:xfrm>
          <a:prstGeom prst="straightConnector1">
            <a:avLst/>
          </a:prstGeom>
          <a:ln w="19050">
            <a:solidFill>
              <a:srgbClr val="8EA1B4"/>
            </a:solidFill>
            <a:prstDash val="solid"/>
          </a:ln>
        </p:spPr>
      </p:cxnSp>
      <p:cxnSp>
        <p:nvCxnSpPr>
          <p:cNvPr id="49" name="Straight Arrow Connector 48"/>
          <p:cNvCxnSpPr>
            <a:stCxn id="11" idx="3"/>
            <a:endCxn id="17" idx="1"/>
          </p:cNvCxnSpPr>
          <p:nvPr/>
        </p:nvCxnSpPr>
        <p:spPr>
          <a:xfrm>
            <a:off x="7524750" y="2647950"/>
            <a:ext cx="1143000" cy="1676400"/>
          </a:xfrm>
          <a:prstGeom prst="straightConnector1">
            <a:avLst/>
          </a:prstGeom>
          <a:ln w="19050">
            <a:solidFill>
              <a:srgbClr val="8EA1B4"/>
            </a:solidFill>
            <a:prstDash val="solid"/>
          </a:ln>
        </p:spPr>
      </p:cxnSp>
      <p:cxnSp>
        <p:nvCxnSpPr>
          <p:cNvPr id="50" name="Straight Arrow Connector 49"/>
          <p:cNvCxnSpPr>
            <a:stCxn id="12" idx="3"/>
            <a:endCxn id="15" idx="1"/>
          </p:cNvCxnSpPr>
          <p:nvPr/>
        </p:nvCxnSpPr>
        <p:spPr>
          <a:xfrm flipV="1">
            <a:off x="7524750" y="2647950"/>
            <a:ext cx="1143000" cy="838200"/>
          </a:xfrm>
          <a:prstGeom prst="straightConnector1">
            <a:avLst/>
          </a:prstGeom>
          <a:ln w="19050">
            <a:solidFill>
              <a:srgbClr val="8EA1B4"/>
            </a:solidFill>
            <a:prstDash val="solid"/>
          </a:ln>
        </p:spPr>
      </p:cxnSp>
      <p:cxnSp>
        <p:nvCxnSpPr>
          <p:cNvPr id="51" name="Straight Arrow Connector 50"/>
          <p:cNvCxnSpPr>
            <a:stCxn id="13" idx="3"/>
            <a:endCxn id="16" idx="1"/>
          </p:cNvCxnSpPr>
          <p:nvPr/>
        </p:nvCxnSpPr>
        <p:spPr>
          <a:xfrm flipV="1">
            <a:off x="7524750" y="3486150"/>
            <a:ext cx="1143000" cy="838200"/>
          </a:xfrm>
          <a:prstGeom prst="straightConnector1">
            <a:avLst/>
          </a:prstGeom>
          <a:ln w="19050">
            <a:solidFill>
              <a:srgbClr val="8EA1B4"/>
            </a:solidFill>
            <a:prstDash val="solid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/>
          <p:cNvSpPr>
            <a:spLocks noGrp="1"/>
          </p:cNvSpPr>
          <p:nvPr/>
        </p:nvSpPr>
        <p:spPr>
          <a:xfrm>
            <a:off x="552450" y="323850"/>
            <a:ext cx="762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0B163F"/>
                </a:solidFill>
              </a:defRPr>
            </a:pPr>
            <a:r>
              <a:rPr sz="2850" b="1">
                <a:solidFill>
                  <a:srgbClr val="0B163F"/>
                </a:solidFill>
              </a:rPr>
              <a:t>Figure 2. Corpus coverage map</a:t>
            </a:r>
            <a:endParaRPr sz="2850" b="1">
              <a:solidFill>
                <a:srgbClr val="0B163F"/>
              </a:solidFill>
            </a:endParaRPr>
          </a:p>
        </p:txBody>
      </p:sp>
      <p:sp>
        <p:nvSpPr>
          <p:cNvPr id="2" name="Rectangle 1"/>
          <p:cNvSpPr>
            <a:spLocks noGrp="1"/>
          </p:cNvSpPr>
          <p:nvPr/>
        </p:nvSpPr>
        <p:spPr>
          <a:xfrm>
            <a:off x="571500" y="838200"/>
            <a:ext cx="8953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2616B"/>
                </a:solidFill>
              </a:defRPr>
            </a:pPr>
            <a:r>
              <a:rPr sz="1350" b="0">
                <a:solidFill>
                  <a:srgbClr val="52616B"/>
                </a:solidFill>
              </a:rPr>
              <a:t>Bubble size encodes paper count; blue rings indicate cells with public implementations.</a:t>
            </a:r>
            <a:endParaRPr sz="1350" b="0">
              <a:solidFill>
                <a:srgbClr val="52616B"/>
              </a:solidFill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3000375" y="1200150"/>
            <a:ext cx="19526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0B163F"/>
                </a:solidFill>
              </a:defRPr>
            </a:pPr>
            <a:r>
              <a:rPr sz="1500" b="1">
                <a:solidFill>
                  <a:srgbClr val="0B163F"/>
                </a:solidFill>
              </a:rPr>
              <a:t>Generation</a:t>
            </a:r>
            <a:endParaRPr sz="1500" b="1">
              <a:solidFill>
                <a:srgbClr val="0B163F"/>
              </a:solidFill>
            </a:endParaRPr>
          </a:p>
        </p:txBody>
      </p:sp>
      <p:sp>
        <p:nvSpPr>
          <p:cNvPr id="4" name="Rectangle 3"/>
          <p:cNvSpPr>
            <a:spLocks noGrp="1"/>
          </p:cNvSpPr>
          <p:nvPr/>
        </p:nvSpPr>
        <p:spPr>
          <a:xfrm>
            <a:off x="4953000" y="1200150"/>
            <a:ext cx="19526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0B163F"/>
                </a:solidFill>
              </a:defRPr>
            </a:pPr>
            <a:r>
              <a:rPr sz="1500" b="1">
                <a:solidFill>
                  <a:srgbClr val="0B163F"/>
                </a:solidFill>
              </a:rPr>
              <a:t>Prediction / trading</a:t>
            </a:r>
            <a:endParaRPr sz="1500" b="1">
              <a:solidFill>
                <a:srgbClr val="0B163F"/>
              </a:solidFill>
            </a:endParaRPr>
          </a:p>
        </p:txBody>
      </p:sp>
      <p:sp>
        <p:nvSpPr>
          <p:cNvPr id="5" name="Rectangle 4"/>
          <p:cNvSpPr>
            <a:spLocks noGrp="1"/>
          </p:cNvSpPr>
          <p:nvPr/>
        </p:nvSpPr>
        <p:spPr>
          <a:xfrm>
            <a:off x="6905625" y="1200150"/>
            <a:ext cx="19526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0B163F"/>
                </a:solidFill>
              </a:defRPr>
            </a:pPr>
            <a:r>
              <a:rPr sz="1500" b="1">
                <a:solidFill>
                  <a:srgbClr val="0B163F"/>
                </a:solidFill>
              </a:rPr>
              <a:t>Risk / pricing</a:t>
            </a:r>
            <a:endParaRPr sz="1500" b="1">
              <a:solidFill>
                <a:srgbClr val="0B163F"/>
              </a:solidFill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8858250" y="1200150"/>
            <a:ext cx="19526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0B163F"/>
                </a:solidFill>
              </a:defRPr>
            </a:pPr>
            <a:r>
              <a:rPr sz="1500" b="1">
                <a:solidFill>
                  <a:srgbClr val="0B163F"/>
                </a:solidFill>
              </a:rPr>
              <a:t>Privacy / trust</a:t>
            </a:r>
            <a:endParaRPr sz="1500" b="1">
              <a:solidFill>
                <a:srgbClr val="0B163F"/>
              </a:solidFill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590550" y="1876425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500" b="1">
                <a:solidFill>
                  <a:srgbClr val="0B163F"/>
                </a:solidFill>
              </a:defRPr>
            </a:pPr>
            <a:r>
              <a:rPr sz="1500" b="1">
                <a:solidFill>
                  <a:srgbClr val="0B163F"/>
                </a:solidFill>
              </a:rPr>
              <a:t>Financial time series</a:t>
            </a:r>
            <a:endParaRPr sz="1500" b="1">
              <a:solidFill>
                <a:srgbClr val="0B163F"/>
              </a:solidFill>
            </a:endParaRPr>
          </a:p>
        </p:txBody>
      </p:sp>
      <p:sp>
        <p:nvSpPr>
          <p:cNvPr id="8" name="Rectangle 7"/>
          <p:cNvSpPr>
            <a:spLocks noGrp="1"/>
          </p:cNvSpPr>
          <p:nvPr/>
        </p:nvSpPr>
        <p:spPr>
          <a:xfrm>
            <a:off x="590550" y="2752725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500" b="1">
                <a:solidFill>
                  <a:srgbClr val="0B163F"/>
                </a:solidFill>
              </a:defRPr>
            </a:pPr>
            <a:r>
              <a:rPr sz="1500" b="1">
                <a:solidFill>
                  <a:srgbClr val="0B163F"/>
                </a:solidFill>
              </a:rPr>
              <a:t>Limit order books</a:t>
            </a:r>
            <a:endParaRPr sz="1500" b="1">
              <a:solidFill>
                <a:srgbClr val="0B163F"/>
              </a:solidFill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590550" y="3629025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500" b="1">
                <a:solidFill>
                  <a:srgbClr val="0B163F"/>
                </a:solidFill>
              </a:defRPr>
            </a:pPr>
            <a:r>
              <a:rPr sz="1500" b="1">
                <a:solidFill>
                  <a:srgbClr val="0B163F"/>
                </a:solidFill>
              </a:rPr>
              <a:t>Tabular data</a:t>
            </a:r>
            <a:endParaRPr sz="1500" b="1">
              <a:solidFill>
                <a:srgbClr val="0B163F"/>
              </a:solidFill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590550" y="4505325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500" b="1">
                <a:solidFill>
                  <a:srgbClr val="0B163F"/>
                </a:solidFill>
              </a:defRPr>
            </a:pPr>
            <a:r>
              <a:rPr sz="1500" b="1">
                <a:solidFill>
                  <a:srgbClr val="0B163F"/>
                </a:solidFill>
              </a:rPr>
              <a:t>Structured data</a:t>
            </a:r>
            <a:endParaRPr sz="1500" b="1">
              <a:solidFill>
                <a:srgbClr val="0B163F"/>
              </a:solidFill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3000375" y="1571625"/>
            <a:ext cx="1952625" cy="876300"/>
          </a:xfrm>
          <a:prstGeom prst="rect">
            <a:avLst/>
          </a:prstGeom>
          <a:solidFill>
            <a:srgbClr val="EAF4FF"/>
          </a:solidFill>
          <a:ln w="9525">
            <a:solidFill>
              <a:srgbClr val="D0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Oval 11"/>
          <p:cNvSpPr>
            <a:spLocks noGrp="1"/>
          </p:cNvSpPr>
          <p:nvPr/>
        </p:nvSpPr>
        <p:spPr>
          <a:xfrm>
            <a:off x="3543349" y="1576436"/>
            <a:ext cx="866678" cy="866678"/>
          </a:xfrm>
          <a:prstGeom prst="ellipse">
            <a:avLst/>
          </a:prstGeom>
          <a:noFill/>
          <a:ln w="23813">
            <a:solidFill>
              <a:srgbClr val="1167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Oval 12"/>
          <p:cNvSpPr>
            <a:spLocks noGrp="1"/>
          </p:cNvSpPr>
          <p:nvPr/>
        </p:nvSpPr>
        <p:spPr>
          <a:xfrm>
            <a:off x="3610024" y="1643111"/>
            <a:ext cx="733328" cy="733328"/>
          </a:xfrm>
          <a:prstGeom prst="ellipse">
            <a:avLst/>
          </a:prstGeom>
          <a:solidFill>
            <a:srgbClr val="0B57A3"/>
          </a:solidFill>
          <a:ln w="0">
            <a:noFill/>
            <a:prstDash val="solid"/>
          </a:ln>
        </p:spPr>
        <p:txBody>
          <a:bodyPr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rPr sz="2600" b="1">
                <a:solidFill>
                  <a:srgbClr val="FFFFFF"/>
                </a:solidFill>
              </a:rPr>
              <a:t>6</a:t>
            </a:r>
            <a:endParaRPr sz="2600" b="1">
              <a:solidFill>
                <a:srgbClr val="FFFFFF"/>
              </a:solidFill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4953000" y="1571625"/>
            <a:ext cx="1952625" cy="876300"/>
          </a:xfrm>
          <a:prstGeom prst="rect">
            <a:avLst/>
          </a:prstGeom>
          <a:solidFill>
            <a:srgbClr val="E8FBF7"/>
          </a:solidFill>
          <a:ln w="9525">
            <a:solidFill>
              <a:srgbClr val="D0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Oval 14"/>
          <p:cNvSpPr>
            <a:spLocks noGrp="1"/>
          </p:cNvSpPr>
          <p:nvPr/>
        </p:nvSpPr>
        <p:spPr>
          <a:xfrm>
            <a:off x="5480054" y="1560516"/>
            <a:ext cx="898517" cy="898517"/>
          </a:xfrm>
          <a:prstGeom prst="ellipse">
            <a:avLst/>
          </a:prstGeom>
          <a:solidFill>
            <a:srgbClr val="078A7B"/>
          </a:solidFill>
          <a:ln w="0">
            <a:noFill/>
            <a:prstDash val="solid"/>
          </a:ln>
        </p:spPr>
        <p:txBody>
          <a:bodyPr/>
          <a:lstStyle/>
          <a:p>
            <a:pPr algn="ctr">
              <a:defRPr sz="3185" b="1">
                <a:solidFill>
                  <a:srgbClr val="FFFFFF"/>
                </a:solidFill>
              </a:defRPr>
            </a:pPr>
            <a:r>
              <a:rPr sz="3185" b="1">
                <a:solidFill>
                  <a:srgbClr val="FFFFFF"/>
                </a:solidFill>
              </a:rPr>
              <a:t>11</a:t>
            </a:r>
            <a:endParaRPr sz="3185" b="1">
              <a:solidFill>
                <a:srgbClr val="FFFFFF"/>
              </a:solidFill>
            </a:endParaRPr>
          </a:p>
        </p:txBody>
      </p:sp>
      <p:sp>
        <p:nvSpPr>
          <p:cNvPr id="16" name="Rectangle 15"/>
          <p:cNvSpPr>
            <a:spLocks noGrp="1"/>
          </p:cNvSpPr>
          <p:nvPr/>
        </p:nvSpPr>
        <p:spPr>
          <a:xfrm>
            <a:off x="6905625" y="1571625"/>
            <a:ext cx="1952625" cy="876300"/>
          </a:xfrm>
          <a:prstGeom prst="rect">
            <a:avLst/>
          </a:prstGeom>
          <a:solidFill>
            <a:srgbClr val="FFF8DF"/>
          </a:solidFill>
          <a:ln w="9525">
            <a:solidFill>
              <a:srgbClr val="D0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Oval 16"/>
          <p:cNvSpPr>
            <a:spLocks noGrp="1"/>
          </p:cNvSpPr>
          <p:nvPr/>
        </p:nvSpPr>
        <p:spPr>
          <a:xfrm>
            <a:off x="7558088" y="1685925"/>
            <a:ext cx="647700" cy="647700"/>
          </a:xfrm>
          <a:prstGeom prst="ellipse">
            <a:avLst/>
          </a:prstGeom>
          <a:solidFill>
            <a:srgbClr val="D8A400"/>
          </a:solidFill>
          <a:ln w="0">
            <a:noFill/>
            <a:prstDash val="solid"/>
          </a:ln>
        </p:spPr>
        <p:txBody>
          <a:bodyPr/>
          <a:lstStyle/>
          <a:p>
            <a:pPr algn="ctr">
              <a:defRPr sz="2295" b="1">
                <a:solidFill>
                  <a:srgbClr val="FFFFFF"/>
                </a:solidFill>
              </a:defRPr>
            </a:pPr>
            <a:r>
              <a:rPr sz="2295" b="1">
                <a:solidFill>
                  <a:srgbClr val="FFFFFF"/>
                </a:solidFill>
              </a:rPr>
              <a:t>4</a:t>
            </a:r>
            <a:endParaRPr sz="2295" b="1">
              <a:solidFill>
                <a:srgbClr val="FFFFFF"/>
              </a:solidFill>
            </a:endParaRPr>
          </a:p>
        </p:txBody>
      </p:sp>
      <p:sp>
        <p:nvSpPr>
          <p:cNvPr id="18" name="Rectangle 17"/>
          <p:cNvSpPr>
            <a:spLocks noGrp="1"/>
          </p:cNvSpPr>
          <p:nvPr/>
        </p:nvSpPr>
        <p:spPr>
          <a:xfrm>
            <a:off x="8858250" y="1571625"/>
            <a:ext cx="1952625" cy="876300"/>
          </a:xfrm>
          <a:prstGeom prst="rect">
            <a:avLst/>
          </a:prstGeom>
          <a:solidFill>
            <a:srgbClr val="F5EFFF"/>
          </a:solidFill>
          <a:ln w="9525">
            <a:solidFill>
              <a:srgbClr val="D0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/>
          <p:cNvSpPr>
            <a:spLocks noGrp="1"/>
          </p:cNvSpPr>
          <p:nvPr/>
        </p:nvSpPr>
        <p:spPr>
          <a:xfrm>
            <a:off x="3000375" y="2447925"/>
            <a:ext cx="1952625" cy="876300"/>
          </a:xfrm>
          <a:prstGeom prst="rect">
            <a:avLst/>
          </a:prstGeom>
          <a:solidFill>
            <a:srgbClr val="EAF4FF"/>
          </a:solidFill>
          <a:ln w="9525">
            <a:solidFill>
              <a:srgbClr val="D0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Oval 19"/>
          <p:cNvSpPr>
            <a:spLocks noGrp="1"/>
          </p:cNvSpPr>
          <p:nvPr/>
        </p:nvSpPr>
        <p:spPr>
          <a:xfrm>
            <a:off x="3524655" y="2434042"/>
            <a:ext cx="904066" cy="904066"/>
          </a:xfrm>
          <a:prstGeom prst="ellipse">
            <a:avLst/>
          </a:prstGeom>
          <a:noFill/>
          <a:ln w="23813">
            <a:solidFill>
              <a:srgbClr val="1167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Oval 20"/>
          <p:cNvSpPr>
            <a:spLocks noGrp="1"/>
          </p:cNvSpPr>
          <p:nvPr/>
        </p:nvSpPr>
        <p:spPr>
          <a:xfrm>
            <a:off x="3591330" y="2500717"/>
            <a:ext cx="770716" cy="770716"/>
          </a:xfrm>
          <a:prstGeom prst="ellipse">
            <a:avLst/>
          </a:prstGeom>
          <a:solidFill>
            <a:srgbClr val="0B57A3"/>
          </a:solidFill>
          <a:ln w="0">
            <a:noFill/>
            <a:prstDash val="solid"/>
          </a:ln>
        </p:spPr>
        <p:txBody>
          <a:bodyPr/>
          <a:lstStyle/>
          <a:p>
            <a:pPr algn="ctr">
              <a:defRPr sz="2730" b="1">
                <a:solidFill>
                  <a:srgbClr val="FFFFFF"/>
                </a:solidFill>
              </a:defRPr>
            </a:pPr>
            <a:r>
              <a:rPr sz="2730" b="1">
                <a:solidFill>
                  <a:srgbClr val="FFFFFF"/>
                </a:solidFill>
              </a:rPr>
              <a:t>7</a:t>
            </a:r>
            <a:endParaRPr sz="2730" b="1">
              <a:solidFill>
                <a:srgbClr val="FFFFFF"/>
              </a:solidFill>
            </a:endParaRPr>
          </a:p>
        </p:txBody>
      </p:sp>
      <p:sp>
        <p:nvSpPr>
          <p:cNvPr id="22" name="Rectangle 21"/>
          <p:cNvSpPr>
            <a:spLocks noGrp="1"/>
          </p:cNvSpPr>
          <p:nvPr/>
        </p:nvSpPr>
        <p:spPr>
          <a:xfrm>
            <a:off x="4953000" y="2447925"/>
            <a:ext cx="1952625" cy="876300"/>
          </a:xfrm>
          <a:prstGeom prst="rect">
            <a:avLst/>
          </a:prstGeom>
          <a:solidFill>
            <a:srgbClr val="E8FBF7"/>
          </a:solidFill>
          <a:ln w="9525">
            <a:solidFill>
              <a:srgbClr val="D0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Oval 22"/>
          <p:cNvSpPr>
            <a:spLocks noGrp="1"/>
          </p:cNvSpPr>
          <p:nvPr/>
        </p:nvSpPr>
        <p:spPr>
          <a:xfrm>
            <a:off x="5661259" y="2618021"/>
            <a:ext cx="536108" cy="536108"/>
          </a:xfrm>
          <a:prstGeom prst="ellipse">
            <a:avLst/>
          </a:prstGeom>
          <a:solidFill>
            <a:srgbClr val="078A7B"/>
          </a:solidFill>
          <a:ln w="0">
            <a:noFill/>
            <a:prstDash val="solid"/>
          </a:ln>
        </p:spPr>
        <p:txBody>
          <a:bodyPr/>
          <a:lstStyle/>
          <a:p>
            <a:pPr algn="ctr">
              <a:defRPr sz="1900" b="1">
                <a:solidFill>
                  <a:srgbClr val="FFFFFF"/>
                </a:solidFill>
              </a:defRPr>
            </a:pPr>
            <a:r>
              <a:rPr sz="1900" b="1">
                <a:solidFill>
                  <a:srgbClr val="FFFFFF"/>
                </a:solidFill>
              </a:rPr>
              <a:t>2</a:t>
            </a:r>
            <a:endParaRPr sz="1900" b="1">
              <a:solidFill>
                <a:srgbClr val="FFFFFF"/>
              </a:solidFill>
            </a:endParaRPr>
          </a:p>
        </p:txBody>
      </p:sp>
      <p:sp>
        <p:nvSpPr>
          <p:cNvPr id="24" name="Rectangle 23"/>
          <p:cNvSpPr>
            <a:spLocks noGrp="1"/>
          </p:cNvSpPr>
          <p:nvPr/>
        </p:nvSpPr>
        <p:spPr>
          <a:xfrm>
            <a:off x="6905625" y="2447925"/>
            <a:ext cx="1952625" cy="876300"/>
          </a:xfrm>
          <a:prstGeom prst="rect">
            <a:avLst/>
          </a:prstGeom>
          <a:solidFill>
            <a:srgbClr val="FFF8DF"/>
          </a:solidFill>
          <a:ln w="9525">
            <a:solidFill>
              <a:srgbClr val="D0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/>
          <p:cNvSpPr>
            <a:spLocks noGrp="1"/>
          </p:cNvSpPr>
          <p:nvPr/>
        </p:nvSpPr>
        <p:spPr>
          <a:xfrm>
            <a:off x="8858250" y="2447925"/>
            <a:ext cx="1952625" cy="876300"/>
          </a:xfrm>
          <a:prstGeom prst="rect">
            <a:avLst/>
          </a:prstGeom>
          <a:solidFill>
            <a:srgbClr val="F5EFFF"/>
          </a:solidFill>
          <a:ln w="9525">
            <a:solidFill>
              <a:srgbClr val="D0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/>
          <p:cNvSpPr>
            <a:spLocks noGrp="1"/>
          </p:cNvSpPr>
          <p:nvPr/>
        </p:nvSpPr>
        <p:spPr>
          <a:xfrm>
            <a:off x="3000375" y="3324225"/>
            <a:ext cx="1952625" cy="876300"/>
          </a:xfrm>
          <a:prstGeom prst="rect">
            <a:avLst/>
          </a:prstGeom>
          <a:solidFill>
            <a:srgbClr val="EAF4FF"/>
          </a:solidFill>
          <a:ln w="9525">
            <a:solidFill>
              <a:srgbClr val="D0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Oval 26"/>
          <p:cNvSpPr>
            <a:spLocks noGrp="1"/>
          </p:cNvSpPr>
          <p:nvPr/>
        </p:nvSpPr>
        <p:spPr>
          <a:xfrm>
            <a:off x="3507255" y="3292942"/>
            <a:ext cx="938865" cy="938865"/>
          </a:xfrm>
          <a:prstGeom prst="ellipse">
            <a:avLst/>
          </a:prstGeom>
          <a:noFill/>
          <a:ln w="23813">
            <a:solidFill>
              <a:srgbClr val="1167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Oval 27"/>
          <p:cNvSpPr>
            <a:spLocks noGrp="1"/>
          </p:cNvSpPr>
          <p:nvPr/>
        </p:nvSpPr>
        <p:spPr>
          <a:xfrm>
            <a:off x="3573930" y="3359617"/>
            <a:ext cx="805515" cy="805515"/>
          </a:xfrm>
          <a:prstGeom prst="ellipse">
            <a:avLst/>
          </a:prstGeom>
          <a:solidFill>
            <a:srgbClr val="0B57A3"/>
          </a:solidFill>
          <a:ln w="0">
            <a:noFill/>
            <a:prstDash val="solid"/>
          </a:ln>
        </p:spPr>
        <p:txBody>
          <a:bodyPr/>
          <a:lstStyle/>
          <a:p>
            <a:pPr algn="ctr">
              <a:defRPr sz="2855" b="1">
                <a:solidFill>
                  <a:srgbClr val="FFFFFF"/>
                </a:solidFill>
              </a:defRPr>
            </a:pPr>
            <a:r>
              <a:rPr sz="2855" b="1">
                <a:solidFill>
                  <a:srgbClr val="FFFFFF"/>
                </a:solidFill>
              </a:rPr>
              <a:t>8</a:t>
            </a:r>
            <a:endParaRPr sz="2855" b="1">
              <a:solidFill>
                <a:srgbClr val="FFFFFF"/>
              </a:solidFill>
            </a:endParaRPr>
          </a:p>
        </p:txBody>
      </p:sp>
      <p:sp>
        <p:nvSpPr>
          <p:cNvPr id="29" name="Rectangle 28"/>
          <p:cNvSpPr>
            <a:spLocks noGrp="1"/>
          </p:cNvSpPr>
          <p:nvPr/>
        </p:nvSpPr>
        <p:spPr>
          <a:xfrm>
            <a:off x="4953000" y="3324225"/>
            <a:ext cx="1952625" cy="876300"/>
          </a:xfrm>
          <a:prstGeom prst="rect">
            <a:avLst/>
          </a:prstGeom>
          <a:solidFill>
            <a:srgbClr val="E8FBF7"/>
          </a:solidFill>
          <a:ln w="9525">
            <a:solidFill>
              <a:srgbClr val="D0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Oval 29"/>
          <p:cNvSpPr>
            <a:spLocks noGrp="1"/>
          </p:cNvSpPr>
          <p:nvPr/>
        </p:nvSpPr>
        <p:spPr>
          <a:xfrm>
            <a:off x="5700713" y="3533775"/>
            <a:ext cx="457200" cy="457200"/>
          </a:xfrm>
          <a:prstGeom prst="ellipse">
            <a:avLst/>
          </a:prstGeom>
          <a:solidFill>
            <a:srgbClr val="078A7B"/>
          </a:solidFill>
          <a:ln w="0">
            <a:noFill/>
            <a:prstDash val="solid"/>
          </a:ln>
        </p:spPr>
        <p:txBody>
          <a:bodyPr/>
          <a:lstStyle/>
          <a:p>
            <a:pPr algn="ctr">
              <a:defRPr sz="1620" b="1">
                <a:solidFill>
                  <a:srgbClr val="FFFFFF"/>
                </a:solidFill>
              </a:defRPr>
            </a:pPr>
            <a:r>
              <a:rPr sz="1620" b="1">
                <a:solidFill>
                  <a:srgbClr val="FFFFFF"/>
                </a:solidFill>
              </a:rPr>
              <a:t>1</a:t>
            </a:r>
            <a:endParaRPr sz="1620" b="1">
              <a:solidFill>
                <a:srgbClr val="FFFFFF"/>
              </a:solidFill>
            </a:endParaRPr>
          </a:p>
        </p:txBody>
      </p:sp>
      <p:sp>
        <p:nvSpPr>
          <p:cNvPr id="31" name="Rectangle 30"/>
          <p:cNvSpPr>
            <a:spLocks noGrp="1"/>
          </p:cNvSpPr>
          <p:nvPr/>
        </p:nvSpPr>
        <p:spPr>
          <a:xfrm>
            <a:off x="6905625" y="3324225"/>
            <a:ext cx="1952625" cy="876300"/>
          </a:xfrm>
          <a:prstGeom prst="rect">
            <a:avLst/>
          </a:prstGeom>
          <a:solidFill>
            <a:srgbClr val="FFF8DF"/>
          </a:solidFill>
          <a:ln w="9525">
            <a:solidFill>
              <a:srgbClr val="D0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/>
          <p:cNvSpPr>
            <a:spLocks noGrp="1"/>
          </p:cNvSpPr>
          <p:nvPr/>
        </p:nvSpPr>
        <p:spPr>
          <a:xfrm>
            <a:off x="8858250" y="3324225"/>
            <a:ext cx="1952625" cy="876300"/>
          </a:xfrm>
          <a:prstGeom prst="rect">
            <a:avLst/>
          </a:prstGeom>
          <a:solidFill>
            <a:srgbClr val="F5EFFF"/>
          </a:solidFill>
          <a:ln w="9525">
            <a:solidFill>
              <a:srgbClr val="D0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Oval 32"/>
          <p:cNvSpPr>
            <a:spLocks noGrp="1"/>
          </p:cNvSpPr>
          <p:nvPr/>
        </p:nvSpPr>
        <p:spPr>
          <a:xfrm>
            <a:off x="9510713" y="3438525"/>
            <a:ext cx="647700" cy="647700"/>
          </a:xfrm>
          <a:prstGeom prst="ellipse">
            <a:avLst/>
          </a:prstGeom>
          <a:solidFill>
            <a:srgbClr val="6F45B3"/>
          </a:solidFill>
          <a:ln w="0">
            <a:noFill/>
            <a:prstDash val="solid"/>
          </a:ln>
        </p:spPr>
        <p:txBody>
          <a:bodyPr/>
          <a:lstStyle/>
          <a:p>
            <a:pPr algn="ctr">
              <a:defRPr sz="2295" b="1">
                <a:solidFill>
                  <a:srgbClr val="FFFFFF"/>
                </a:solidFill>
              </a:defRPr>
            </a:pPr>
            <a:r>
              <a:rPr sz="2295" b="1">
                <a:solidFill>
                  <a:srgbClr val="FFFFFF"/>
                </a:solidFill>
              </a:rPr>
              <a:t>4</a:t>
            </a:r>
            <a:endParaRPr sz="2295" b="1">
              <a:solidFill>
                <a:srgbClr val="FFFFFF"/>
              </a:solidFill>
            </a:endParaRPr>
          </a:p>
        </p:txBody>
      </p:sp>
      <p:sp>
        <p:nvSpPr>
          <p:cNvPr id="34" name="Rectangle 33"/>
          <p:cNvSpPr>
            <a:spLocks noGrp="1"/>
          </p:cNvSpPr>
          <p:nvPr/>
        </p:nvSpPr>
        <p:spPr>
          <a:xfrm>
            <a:off x="3000375" y="4200525"/>
            <a:ext cx="1952625" cy="876300"/>
          </a:xfrm>
          <a:prstGeom prst="rect">
            <a:avLst/>
          </a:prstGeom>
          <a:solidFill>
            <a:srgbClr val="EAF4FF"/>
          </a:solidFill>
          <a:ln w="9525">
            <a:solidFill>
              <a:srgbClr val="D0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Oval 34"/>
          <p:cNvSpPr>
            <a:spLocks noGrp="1"/>
          </p:cNvSpPr>
          <p:nvPr/>
        </p:nvSpPr>
        <p:spPr>
          <a:xfrm>
            <a:off x="3748088" y="4410075"/>
            <a:ext cx="457200" cy="457200"/>
          </a:xfrm>
          <a:prstGeom prst="ellipse">
            <a:avLst/>
          </a:prstGeom>
          <a:solidFill>
            <a:srgbClr val="0B57A3"/>
          </a:solidFill>
          <a:ln w="0">
            <a:noFill/>
            <a:prstDash val="solid"/>
          </a:ln>
        </p:spPr>
        <p:txBody>
          <a:bodyPr/>
          <a:lstStyle/>
          <a:p>
            <a:pPr algn="ctr">
              <a:defRPr sz="1620" b="1">
                <a:solidFill>
                  <a:srgbClr val="FFFFFF"/>
                </a:solidFill>
              </a:defRPr>
            </a:pPr>
            <a:r>
              <a:rPr sz="1620" b="1">
                <a:solidFill>
                  <a:srgbClr val="FFFFFF"/>
                </a:solidFill>
              </a:rPr>
              <a:t>1</a:t>
            </a:r>
            <a:endParaRPr sz="1620" b="1">
              <a:solidFill>
                <a:srgbClr val="FFFFFF"/>
              </a:solidFill>
            </a:endParaRPr>
          </a:p>
        </p:txBody>
      </p:sp>
      <p:sp>
        <p:nvSpPr>
          <p:cNvPr id="36" name="Rectangle 35"/>
          <p:cNvSpPr>
            <a:spLocks noGrp="1"/>
          </p:cNvSpPr>
          <p:nvPr/>
        </p:nvSpPr>
        <p:spPr>
          <a:xfrm>
            <a:off x="4953000" y="4200525"/>
            <a:ext cx="1952625" cy="876300"/>
          </a:xfrm>
          <a:prstGeom prst="rect">
            <a:avLst/>
          </a:prstGeom>
          <a:solidFill>
            <a:srgbClr val="E8FBF7"/>
          </a:solidFill>
          <a:ln w="9525">
            <a:solidFill>
              <a:srgbClr val="D0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Oval 36"/>
          <p:cNvSpPr>
            <a:spLocks noGrp="1"/>
          </p:cNvSpPr>
          <p:nvPr/>
        </p:nvSpPr>
        <p:spPr>
          <a:xfrm>
            <a:off x="5634038" y="4343400"/>
            <a:ext cx="590550" cy="590550"/>
          </a:xfrm>
          <a:prstGeom prst="ellipse">
            <a:avLst/>
          </a:prstGeom>
          <a:noFill/>
          <a:ln w="23813">
            <a:solidFill>
              <a:srgbClr val="1167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Oval 37"/>
          <p:cNvSpPr>
            <a:spLocks noGrp="1"/>
          </p:cNvSpPr>
          <p:nvPr/>
        </p:nvSpPr>
        <p:spPr>
          <a:xfrm>
            <a:off x="5700713" y="4410075"/>
            <a:ext cx="457200" cy="457200"/>
          </a:xfrm>
          <a:prstGeom prst="ellipse">
            <a:avLst/>
          </a:prstGeom>
          <a:solidFill>
            <a:srgbClr val="078A7B"/>
          </a:solidFill>
          <a:ln w="0">
            <a:noFill/>
            <a:prstDash val="solid"/>
          </a:ln>
        </p:spPr>
        <p:txBody>
          <a:bodyPr/>
          <a:lstStyle/>
          <a:p>
            <a:pPr algn="ctr">
              <a:defRPr sz="1620" b="1">
                <a:solidFill>
                  <a:srgbClr val="FFFFFF"/>
                </a:solidFill>
              </a:defRPr>
            </a:pPr>
            <a:r>
              <a:rPr sz="1620" b="1">
                <a:solidFill>
                  <a:srgbClr val="FFFFFF"/>
                </a:solidFill>
              </a:rPr>
              <a:t>1</a:t>
            </a:r>
            <a:endParaRPr sz="1620" b="1">
              <a:solidFill>
                <a:srgbClr val="FFFFFF"/>
              </a:solidFill>
            </a:endParaRPr>
          </a:p>
        </p:txBody>
      </p:sp>
      <p:sp>
        <p:nvSpPr>
          <p:cNvPr id="39" name="Rectangle 38"/>
          <p:cNvSpPr>
            <a:spLocks noGrp="1"/>
          </p:cNvSpPr>
          <p:nvPr/>
        </p:nvSpPr>
        <p:spPr>
          <a:xfrm>
            <a:off x="6905625" y="4200525"/>
            <a:ext cx="1952625" cy="876300"/>
          </a:xfrm>
          <a:prstGeom prst="rect">
            <a:avLst/>
          </a:prstGeom>
          <a:solidFill>
            <a:srgbClr val="FFF8DF"/>
          </a:solidFill>
          <a:ln w="9525">
            <a:solidFill>
              <a:srgbClr val="D0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Oval 39"/>
          <p:cNvSpPr>
            <a:spLocks noGrp="1"/>
          </p:cNvSpPr>
          <p:nvPr/>
        </p:nvSpPr>
        <p:spPr>
          <a:xfrm>
            <a:off x="7515274" y="4272011"/>
            <a:ext cx="733328" cy="733328"/>
          </a:xfrm>
          <a:prstGeom prst="ellipse">
            <a:avLst/>
          </a:prstGeom>
          <a:solidFill>
            <a:srgbClr val="D8A400"/>
          </a:solidFill>
          <a:ln w="0">
            <a:noFill/>
            <a:prstDash val="solid"/>
          </a:ln>
        </p:spPr>
        <p:txBody>
          <a:bodyPr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rPr sz="2600" b="1">
                <a:solidFill>
                  <a:srgbClr val="FFFFFF"/>
                </a:solidFill>
              </a:rPr>
              <a:t>6</a:t>
            </a:r>
            <a:endParaRPr sz="2600" b="1">
              <a:solidFill>
                <a:srgbClr val="FFFFFF"/>
              </a:solidFill>
            </a:endParaRPr>
          </a:p>
        </p:txBody>
      </p:sp>
      <p:sp>
        <p:nvSpPr>
          <p:cNvPr id="41" name="Rectangle 40"/>
          <p:cNvSpPr>
            <a:spLocks noGrp="1"/>
          </p:cNvSpPr>
          <p:nvPr/>
        </p:nvSpPr>
        <p:spPr>
          <a:xfrm>
            <a:off x="8858250" y="4200525"/>
            <a:ext cx="1952625" cy="876300"/>
          </a:xfrm>
          <a:prstGeom prst="rect">
            <a:avLst/>
          </a:prstGeom>
          <a:solidFill>
            <a:srgbClr val="F5EFFF"/>
          </a:solidFill>
          <a:ln w="9525">
            <a:solidFill>
              <a:srgbClr val="D0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Oval 41"/>
          <p:cNvSpPr>
            <a:spLocks noGrp="1"/>
          </p:cNvSpPr>
          <p:nvPr/>
        </p:nvSpPr>
        <p:spPr>
          <a:xfrm>
            <a:off x="3028950" y="5819775"/>
            <a:ext cx="323850" cy="323850"/>
          </a:xfrm>
          <a:prstGeom prst="ellipse">
            <a:avLst/>
          </a:prstGeom>
          <a:solidFill>
            <a:srgbClr val="0B57A3"/>
          </a:solidFill>
          <a:ln w="0">
            <a:noFill/>
            <a:prstDash val="solid"/>
          </a:ln>
        </p:spPr>
        <p:txBody>
          <a:bodyPr/>
          <a:lstStyle/>
          <a:p/>
        </p:txBody>
      </p:sp>
      <p:sp>
        <p:nvSpPr>
          <p:cNvPr id="43" name="Rectangle 42"/>
          <p:cNvSpPr>
            <a:spLocks noGrp="1"/>
          </p:cNvSpPr>
          <p:nvPr/>
        </p:nvSpPr>
        <p:spPr>
          <a:xfrm>
            <a:off x="3476625" y="5838825"/>
            <a:ext cx="266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0B163F"/>
                </a:solidFill>
              </a:defRPr>
            </a:pPr>
            <a:r>
              <a:rPr sz="1350" b="0">
                <a:solidFill>
                  <a:srgbClr val="0B163F"/>
                </a:solidFill>
              </a:rPr>
              <a:t>Bubble size = paper count</a:t>
            </a:r>
            <a:endParaRPr sz="1350" b="0">
              <a:solidFill>
                <a:srgbClr val="0B163F"/>
              </a:solidFill>
            </a:endParaRPr>
          </a:p>
        </p:txBody>
      </p:sp>
      <p:sp>
        <p:nvSpPr>
          <p:cNvPr id="44" name="Oval 43"/>
          <p:cNvSpPr>
            <a:spLocks noGrp="1"/>
          </p:cNvSpPr>
          <p:nvPr/>
        </p:nvSpPr>
        <p:spPr>
          <a:xfrm>
            <a:off x="6667500" y="5819775"/>
            <a:ext cx="342900" cy="342900"/>
          </a:xfrm>
          <a:prstGeom prst="ellipse">
            <a:avLst/>
          </a:prstGeom>
          <a:noFill/>
          <a:ln w="23813">
            <a:solidFill>
              <a:srgbClr val="1167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Rectangle 44"/>
          <p:cNvSpPr>
            <a:spLocks noGrp="1"/>
          </p:cNvSpPr>
          <p:nvPr/>
        </p:nvSpPr>
        <p:spPr>
          <a:xfrm>
            <a:off x="7143750" y="5838825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0B163F"/>
                </a:solidFill>
              </a:defRPr>
            </a:pPr>
            <a:r>
              <a:rPr sz="1350" b="0">
                <a:solidFill>
                  <a:srgbClr val="0B163F"/>
                </a:solidFill>
              </a:rPr>
              <a:t>Blue ring = open-source code available</a:t>
            </a:r>
            <a:endParaRPr sz="1350" b="0">
              <a:solidFill>
                <a:srgbClr val="0B163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942</Words>
  <Application>WPS 演示</Application>
  <PresentationFormat>Widescreen</PresentationFormat>
  <Paragraphs>88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9" baseType="lpstr">
      <vt:lpstr>Arial</vt:lpstr>
      <vt:lpstr>宋体</vt:lpstr>
      <vt:lpstr>Wingdings</vt:lpstr>
      <vt:lpstr>Calibri</vt:lpstr>
      <vt:lpstr>微软雅黑</vt:lpstr>
      <vt:lpstr>Arial Unicode MS</vt:lpstr>
      <vt:lpstr>ChatGPT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王卓涵</cp:lastModifiedBy>
  <cp:revision>4</cp:revision>
  <dcterms:created xsi:type="dcterms:W3CDTF">2026-07-24T22:14:00Z</dcterms:created>
  <dcterms:modified xsi:type="dcterms:W3CDTF">2026-07-24T22:25:05Z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DD3754ECE29D4F9C836DEBFFBE3B02F1_12</vt:lpwstr>
  </property>
  <property fmtid="{D5CDD505-2E9C-101B-9397-08002B2CF9AE}" pid="3" name="KSOProductBuildVer">
    <vt:lpwstr>2052-12.1.0.26895</vt:lpwstr>
  </property>
</Properties>
</file>