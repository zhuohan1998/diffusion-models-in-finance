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6"/>
  </p:normalViewPr>
  <p:slideViewPr>
    <p:cSldViewPr snapToGrid="0">
      <p:cViewPr varScale="1">
        <p:scale>
          <a:sx n="101" d="100"/>
          <a:sy n="101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Derived from paper/icaif/figures/data_first_taxonomy.png and the taxonomy text in paper/icaif/main.tex.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Derived from paper/icaif/figures/corpus_coverage_map.png and corpus buckets in paper/icaif/companion/corpus_coding.csv.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ABDCB05-51EE-4108-BF8F-C267DE787B10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762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63F"/>
                </a:solidFill>
              </a:defRPr>
            </a:pPr>
            <a:r>
              <a:rPr sz="2850" b="1">
                <a:solidFill>
                  <a:srgbClr val="0B163F"/>
                </a:solidFill>
              </a:rPr>
              <a:t>Figure 1. Data-first taxonomy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366CD1-9AD1-4E1D-8938-69AD3C58813C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Organize finance diffusion papers by the object being generated, then by application and method family.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DC4098-8EE7-411B-98F0-53D3102C55B0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163F"/>
                </a:solidFill>
              </a:defRPr>
            </a:pPr>
            <a:r>
              <a:rPr sz="1650" b="1">
                <a:solidFill>
                  <a:srgbClr val="0B163F"/>
                </a:solidFill>
              </a:rPr>
              <a:t>Financial data object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5D8AF0-B734-4DE5-80CC-DF47862C2C86}"/>
              </a:ext>
            </a:extLst>
          </p:cNvPr>
          <p:cNvSpPr>
            <a:spLocks noGrp="1"/>
          </p:cNvSpPr>
          <p:nvPr/>
        </p:nvSpPr>
        <p:spPr>
          <a:xfrm>
            <a:off x="4667250" y="1219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163F"/>
                </a:solidFill>
              </a:defRPr>
            </a:pPr>
            <a:r>
              <a:rPr sz="1650" b="1">
                <a:solidFill>
                  <a:srgbClr val="0B163F"/>
                </a:solidFill>
              </a:rPr>
              <a:t>Application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CD0436-E9EB-4CC7-980F-4685A0F2777F}"/>
              </a:ext>
            </a:extLst>
          </p:cNvPr>
          <p:cNvSpPr>
            <a:spLocks noGrp="1"/>
          </p:cNvSpPr>
          <p:nvPr/>
        </p:nvSpPr>
        <p:spPr>
          <a:xfrm>
            <a:off x="8667750" y="1219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B163F"/>
                </a:solidFill>
              </a:defRPr>
            </a:pPr>
            <a:r>
              <a:rPr sz="1650" b="1">
                <a:solidFill>
                  <a:srgbClr val="0B163F"/>
                </a:solidFill>
              </a:rPr>
              <a:t>Method family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F2D14EE-D04C-4DF7-B00D-B9FE43563FF7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EAF4FF"/>
          </a:solidFill>
          <a:ln w="12383">
            <a:solidFill>
              <a:srgbClr val="0B57A3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Financial time series</a:t>
            </a:r>
          </a:p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Prices, returns, factors, scenarios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FC80E80-AF37-4167-967B-AA0618724851}"/>
              </a:ext>
            </a:extLst>
          </p:cNvPr>
          <p:cNvSpPr>
            <a:spLocks noGrp="1"/>
          </p:cNvSpPr>
          <p:nvPr/>
        </p:nvSpPr>
        <p:spPr>
          <a:xfrm>
            <a:off x="666750" y="2314575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EAF4FF"/>
          </a:solidFill>
          <a:ln w="12383">
            <a:solidFill>
              <a:srgbClr val="0B57A3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Limit order books</a:t>
            </a:r>
          </a:p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Snapshots, order flow, volume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61127FD-3146-4B57-A124-D3D77189E881}"/>
              </a:ext>
            </a:extLst>
          </p:cNvPr>
          <p:cNvSpPr>
            <a:spLocks noGrp="1"/>
          </p:cNvSpPr>
          <p:nvPr/>
        </p:nvSpPr>
        <p:spPr>
          <a:xfrm>
            <a:off x="666750" y="3152775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EAF4FF"/>
          </a:solidFill>
          <a:ln w="12383">
            <a:solidFill>
              <a:srgbClr val="0B57A3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Tabular data</a:t>
            </a:r>
          </a:p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Credit, payment, customer, fraud rows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BC166F-EF02-4AE4-BE23-76E14C311C1F}"/>
              </a:ext>
            </a:extLst>
          </p:cNvPr>
          <p:cNvSpPr>
            <a:spLocks noGrp="1"/>
          </p:cNvSpPr>
          <p:nvPr/>
        </p:nvSpPr>
        <p:spPr>
          <a:xfrm>
            <a:off x="666750" y="3990975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EAF4FF"/>
          </a:solidFill>
          <a:ln w="12383">
            <a:solidFill>
              <a:srgbClr val="0B57A3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Structured data</a:t>
            </a:r>
          </a:p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Matrices, surfaces, curves, pricing paths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1D1779-030E-4D33-B7DF-960D145D5650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E8FBF7"/>
          </a:solidFill>
          <a:ln w="12383">
            <a:solidFill>
              <a:srgbClr val="078A7B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Generation</a:t>
            </a:r>
          </a:p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Synthetic data and market simulation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0AB857B-929A-4792-9B7F-6CD846E3BAB5}"/>
              </a:ext>
            </a:extLst>
          </p:cNvPr>
          <p:cNvSpPr>
            <a:spLocks noGrp="1"/>
          </p:cNvSpPr>
          <p:nvPr/>
        </p:nvSpPr>
        <p:spPr>
          <a:xfrm>
            <a:off x="4667250" y="2314575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E8FBF7"/>
          </a:solidFill>
          <a:ln w="12383">
            <a:solidFill>
              <a:srgbClr val="078A7B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Prediction and trading</a:t>
            </a:r>
          </a:p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Forecasts, signals, policies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C7256DE-E7E6-4AA3-BCFC-4A0FC6517F5B}"/>
              </a:ext>
            </a:extLst>
          </p:cNvPr>
          <p:cNvSpPr>
            <a:spLocks noGrp="1"/>
          </p:cNvSpPr>
          <p:nvPr/>
        </p:nvSpPr>
        <p:spPr>
          <a:xfrm>
            <a:off x="4667250" y="3152775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E8FBF7"/>
          </a:solidFill>
          <a:ln w="12383">
            <a:solidFill>
              <a:srgbClr val="078A7B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Risk and pricing</a:t>
            </a:r>
          </a:p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Stress paths, valuation, scenarios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B4849F2-C6A7-446E-B0F9-4D53658D6BF1}"/>
              </a:ext>
            </a:extLst>
          </p:cNvPr>
          <p:cNvSpPr>
            <a:spLocks noGrp="1"/>
          </p:cNvSpPr>
          <p:nvPr/>
        </p:nvSpPr>
        <p:spPr>
          <a:xfrm>
            <a:off x="4667250" y="3990975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E8FBF7"/>
          </a:solidFill>
          <a:ln w="12383">
            <a:solidFill>
              <a:srgbClr val="078A7B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Privacy and trust</a:t>
            </a:r>
          </a:p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Utility, leakage, constraints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FA1D97C-3B56-44FE-AC65-3586CA227148}"/>
              </a:ext>
            </a:extLst>
          </p:cNvPr>
          <p:cNvSpPr>
            <a:spLocks noGrp="1"/>
          </p:cNvSpPr>
          <p:nvPr/>
        </p:nvSpPr>
        <p:spPr>
          <a:xfrm>
            <a:off x="8667750" y="1476375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FFF8DF"/>
          </a:solidFill>
          <a:ln w="12383">
            <a:solidFill>
              <a:srgbClr val="D8A400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DDPM / score-SDE</a:t>
            </a:r>
          </a:p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Denoising and reverse-time sampling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DAF0EF0-54CE-463A-85D6-3DB31B53DA4F}"/>
              </a:ext>
            </a:extLst>
          </p:cNvPr>
          <p:cNvSpPr>
            <a:spLocks noGrp="1"/>
          </p:cNvSpPr>
          <p:nvPr/>
        </p:nvSpPr>
        <p:spPr>
          <a:xfrm>
            <a:off x="8667750" y="2314575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FFF8DF"/>
          </a:solidFill>
          <a:ln w="12383">
            <a:solidFill>
              <a:srgbClr val="D8A400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Conditional guidance</a:t>
            </a:r>
          </a:p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Controls, regimes, masks, constraints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984C4B4-366E-4987-AD44-5268AFF7C5B7}"/>
              </a:ext>
            </a:extLst>
          </p:cNvPr>
          <p:cNvSpPr>
            <a:spLocks noGrp="1"/>
          </p:cNvSpPr>
          <p:nvPr/>
        </p:nvSpPr>
        <p:spPr>
          <a:xfrm>
            <a:off x="8667750" y="3152775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FFF8DF"/>
          </a:solidFill>
          <a:ln w="12383">
            <a:solidFill>
              <a:srgbClr val="D8A400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Latent / tabular diffusion</a:t>
            </a:r>
          </a:p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Mixed fields and compact spaces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1F47FC6-56C4-4C02-BCF4-733E10010595}"/>
              </a:ext>
            </a:extLst>
          </p:cNvPr>
          <p:cNvSpPr>
            <a:spLocks noGrp="1"/>
          </p:cNvSpPr>
          <p:nvPr/>
        </p:nvSpPr>
        <p:spPr>
          <a:xfrm>
            <a:off x="8667750" y="3990975"/>
            <a:ext cx="2857500" cy="666750"/>
          </a:xfrm>
          <a:prstGeom prst="roundRect">
            <a:avLst>
              <a:gd name="adj" fmla="val 17143"/>
            </a:avLst>
          </a:prstGeom>
          <a:solidFill>
            <a:srgbClr val="FFF8DF"/>
          </a:solidFill>
          <a:ln w="12383">
            <a:solidFill>
              <a:srgbClr val="D8A400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Flow matching</a:t>
            </a:r>
          </a:p>
          <a:p>
            <a:pPr algn="ctr">
              <a:defRPr sz="1200" b="1">
                <a:solidFill>
                  <a:srgbClr val="0B163F"/>
                </a:solidFill>
              </a:defRPr>
            </a:pPr>
            <a:r>
              <a:rPr sz="1200" b="1">
                <a:solidFill>
                  <a:srgbClr val="0B163F"/>
                </a:solidFill>
              </a:rPr>
              <a:t>Fast transport and decision loops</a:t>
            </a:r>
          </a:p>
        </p:txBody>
      </p:sp>
      <p:cxnSp>
        <p:nvCxnSpPr>
          <p:cNvPr id="44" name="Straight Arrow Connector 43"/>
          <p:cNvCxnSpPr>
            <a:stCxn id="6" idx="3"/>
            <a:endCxn id="10" idx="1"/>
          </p:cNvCxnSpPr>
          <p:nvPr/>
        </p:nvCxnSpPr>
        <p:spPr>
          <a:xfrm>
            <a:off x="3524250" y="1809750"/>
            <a:ext cx="1143000" cy="0"/>
          </a:xfrm>
          <a:prstGeom prst="straightConnector1">
            <a:avLst/>
          </a:prstGeom>
          <a:ln w="19050">
            <a:solidFill>
              <a:srgbClr val="8EA1B4"/>
            </a:solidFill>
            <a:prstDash val="solid"/>
          </a:ln>
        </p:spPr>
      </p:cxnSp>
      <p:cxnSp>
        <p:nvCxnSpPr>
          <p:cNvPr id="45" name="Straight Arrow Connector 44"/>
          <p:cNvCxnSpPr>
            <a:stCxn id="7" idx="3"/>
            <a:endCxn id="10" idx="1"/>
          </p:cNvCxnSpPr>
          <p:nvPr/>
        </p:nvCxnSpPr>
        <p:spPr>
          <a:xfrm flipV="1">
            <a:off x="3524250" y="1809750"/>
            <a:ext cx="1143000" cy="838200"/>
          </a:xfrm>
          <a:prstGeom prst="straightConnector1">
            <a:avLst/>
          </a:prstGeom>
          <a:ln w="19050">
            <a:solidFill>
              <a:srgbClr val="8EA1B4"/>
            </a:solidFill>
            <a:prstDash val="solid"/>
          </a:ln>
        </p:spPr>
      </p:cxnSp>
      <p:cxnSp>
        <p:nvCxnSpPr>
          <p:cNvPr id="46" name="Straight Arrow Connector 45"/>
          <p:cNvCxnSpPr>
            <a:stCxn id="8" idx="3"/>
            <a:endCxn id="13" idx="1"/>
          </p:cNvCxnSpPr>
          <p:nvPr/>
        </p:nvCxnSpPr>
        <p:spPr>
          <a:xfrm>
            <a:off x="3524250" y="3486150"/>
            <a:ext cx="1143000" cy="838200"/>
          </a:xfrm>
          <a:prstGeom prst="straightConnector1">
            <a:avLst/>
          </a:prstGeom>
          <a:ln w="19050">
            <a:solidFill>
              <a:srgbClr val="8EA1B4"/>
            </a:solidFill>
            <a:prstDash val="solid"/>
          </a:ln>
        </p:spPr>
      </p:cxnSp>
      <p:cxnSp>
        <p:nvCxnSpPr>
          <p:cNvPr id="47" name="Straight Arrow Connector 46"/>
          <p:cNvCxnSpPr>
            <a:stCxn id="9" idx="3"/>
            <a:endCxn id="12" idx="1"/>
          </p:cNvCxnSpPr>
          <p:nvPr/>
        </p:nvCxnSpPr>
        <p:spPr>
          <a:xfrm flipV="1">
            <a:off x="3524250" y="3486150"/>
            <a:ext cx="1143000" cy="838200"/>
          </a:xfrm>
          <a:prstGeom prst="straightConnector1">
            <a:avLst/>
          </a:prstGeom>
          <a:ln w="19050">
            <a:solidFill>
              <a:srgbClr val="8EA1B4"/>
            </a:solidFill>
            <a:prstDash val="solid"/>
          </a:ln>
        </p:spPr>
      </p:cxnSp>
      <p:cxnSp>
        <p:nvCxnSpPr>
          <p:cNvPr id="48" name="Straight Arrow Connector 47"/>
          <p:cNvCxnSpPr>
            <a:stCxn id="10" idx="3"/>
            <a:endCxn id="14" idx="1"/>
          </p:cNvCxnSpPr>
          <p:nvPr/>
        </p:nvCxnSpPr>
        <p:spPr>
          <a:xfrm>
            <a:off x="7524750" y="1809750"/>
            <a:ext cx="1143000" cy="0"/>
          </a:xfrm>
          <a:prstGeom prst="straightConnector1">
            <a:avLst/>
          </a:prstGeom>
          <a:ln w="19050">
            <a:solidFill>
              <a:srgbClr val="8EA1B4"/>
            </a:solidFill>
            <a:prstDash val="solid"/>
          </a:ln>
        </p:spPr>
      </p:cxnSp>
      <p:cxnSp>
        <p:nvCxnSpPr>
          <p:cNvPr id="49" name="Straight Arrow Connector 48"/>
          <p:cNvCxnSpPr>
            <a:stCxn id="11" idx="3"/>
            <a:endCxn id="17" idx="1"/>
          </p:cNvCxnSpPr>
          <p:nvPr/>
        </p:nvCxnSpPr>
        <p:spPr>
          <a:xfrm>
            <a:off x="7524750" y="2647950"/>
            <a:ext cx="1143000" cy="1676400"/>
          </a:xfrm>
          <a:prstGeom prst="straightConnector1">
            <a:avLst/>
          </a:prstGeom>
          <a:ln w="19050">
            <a:solidFill>
              <a:srgbClr val="8EA1B4"/>
            </a:solidFill>
            <a:prstDash val="solid"/>
          </a:ln>
        </p:spPr>
      </p:cxnSp>
      <p:cxnSp>
        <p:nvCxnSpPr>
          <p:cNvPr id="50" name="Straight Arrow Connector 49"/>
          <p:cNvCxnSpPr>
            <a:stCxn id="12" idx="3"/>
            <a:endCxn id="15" idx="1"/>
          </p:cNvCxnSpPr>
          <p:nvPr/>
        </p:nvCxnSpPr>
        <p:spPr>
          <a:xfrm flipV="1">
            <a:off x="7524750" y="2647950"/>
            <a:ext cx="1143000" cy="838200"/>
          </a:xfrm>
          <a:prstGeom prst="straightConnector1">
            <a:avLst/>
          </a:prstGeom>
          <a:ln w="19050">
            <a:solidFill>
              <a:srgbClr val="8EA1B4"/>
            </a:solidFill>
            <a:prstDash val="solid"/>
          </a:ln>
        </p:spPr>
      </p:cxnSp>
      <p:cxnSp>
        <p:nvCxnSpPr>
          <p:cNvPr id="51" name="Straight Arrow Connector 50"/>
          <p:cNvCxnSpPr>
            <a:stCxn id="13" idx="3"/>
            <a:endCxn id="16" idx="1"/>
          </p:cNvCxnSpPr>
          <p:nvPr/>
        </p:nvCxnSpPr>
        <p:spPr>
          <a:xfrm flipV="1">
            <a:off x="7524750" y="3486150"/>
            <a:ext cx="1143000" cy="838200"/>
          </a:xfrm>
          <a:prstGeom prst="straightConnector1">
            <a:avLst/>
          </a:prstGeom>
          <a:ln w="19050">
            <a:solidFill>
              <a:srgbClr val="8EA1B4"/>
            </a:solidFill>
            <a:prstDash val="solid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05CDC78-5775-48ED-97E6-933F3FE33F63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Editable reconstruction of the manuscript taxonomy figure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189149-07AA-A72C-35E5-207612113708}"/>
              </a:ext>
            </a:extLst>
          </p:cNvPr>
          <p:cNvSpPr txBox="1"/>
          <p:nvPr/>
        </p:nvSpPr>
        <p:spPr>
          <a:xfrm>
            <a:off x="2197100" y="58166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Jj</a:t>
            </a:r>
          </a:p>
        </p:txBody>
      </p:sp>
    </p:spTree>
    <p:extLst>
      <p:ext uri="{BB962C8B-B14F-4D97-AF65-F5344CB8AC3E}">
        <p14:creationId xmlns:p14="http://schemas.microsoft.com/office/powerpoint/2010/main" val="36043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B3AB0667-7390-4538-B864-F10B7578D1C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762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63F"/>
                </a:solidFill>
              </a:defRPr>
            </a:pPr>
            <a:r>
              <a:rPr sz="2850" b="1">
                <a:solidFill>
                  <a:srgbClr val="0B163F"/>
                </a:solidFill>
              </a:rPr>
              <a:t>Figure 2. Corpus coverage 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F87926-66D6-489F-A2E9-204B18D57ED9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895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Bubble size encodes paper count; blue rings indicate cells with public implementations.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012A8A-DF17-45A5-A2FD-90D4A87E1CF4}"/>
              </a:ext>
            </a:extLst>
          </p:cNvPr>
          <p:cNvSpPr>
            <a:spLocks noGrp="1"/>
          </p:cNvSpPr>
          <p:nvPr/>
        </p:nvSpPr>
        <p:spPr>
          <a:xfrm>
            <a:off x="3000375" y="1200150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63F"/>
                </a:solidFill>
              </a:defRPr>
            </a:pPr>
            <a:r>
              <a:rPr sz="1500" b="1">
                <a:solidFill>
                  <a:srgbClr val="0B163F"/>
                </a:solidFill>
              </a:rPr>
              <a:t>Generation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D7A906-5097-4562-9852-771677AFAF15}"/>
              </a:ext>
            </a:extLst>
          </p:cNvPr>
          <p:cNvSpPr>
            <a:spLocks noGrp="1"/>
          </p:cNvSpPr>
          <p:nvPr/>
        </p:nvSpPr>
        <p:spPr>
          <a:xfrm>
            <a:off x="4953000" y="1200150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63F"/>
                </a:solidFill>
              </a:defRPr>
            </a:pPr>
            <a:r>
              <a:rPr sz="1500" b="1">
                <a:solidFill>
                  <a:srgbClr val="0B163F"/>
                </a:solidFill>
              </a:rPr>
              <a:t>Prediction / trading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063BE1-01E9-4E8C-880E-34C85B2B48B8}"/>
              </a:ext>
            </a:extLst>
          </p:cNvPr>
          <p:cNvSpPr>
            <a:spLocks noGrp="1"/>
          </p:cNvSpPr>
          <p:nvPr/>
        </p:nvSpPr>
        <p:spPr>
          <a:xfrm>
            <a:off x="6905625" y="1200150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63F"/>
                </a:solidFill>
              </a:defRPr>
            </a:pPr>
            <a:r>
              <a:rPr sz="1500" b="1">
                <a:solidFill>
                  <a:srgbClr val="0B163F"/>
                </a:solidFill>
              </a:rPr>
              <a:t>Risk / pricing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DBBFA8-19E9-44A2-B10B-8F743C4E2398}"/>
              </a:ext>
            </a:extLst>
          </p:cNvPr>
          <p:cNvSpPr>
            <a:spLocks noGrp="1"/>
          </p:cNvSpPr>
          <p:nvPr/>
        </p:nvSpPr>
        <p:spPr>
          <a:xfrm>
            <a:off x="8858250" y="1200150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63F"/>
                </a:solidFill>
              </a:defRPr>
            </a:pPr>
            <a:r>
              <a:rPr sz="1500" b="1">
                <a:solidFill>
                  <a:srgbClr val="0B163F"/>
                </a:solidFill>
              </a:rPr>
              <a:t>Privacy / trust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4F8FB9-E755-47DF-A603-BC9FB5C93D10}"/>
              </a:ext>
            </a:extLst>
          </p:cNvPr>
          <p:cNvSpPr>
            <a:spLocks noGrp="1"/>
          </p:cNvSpPr>
          <p:nvPr/>
        </p:nvSpPr>
        <p:spPr>
          <a:xfrm>
            <a:off x="590550" y="18764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0B163F"/>
                </a:solidFill>
              </a:defRPr>
            </a:pPr>
            <a:r>
              <a:rPr sz="1500" b="1">
                <a:solidFill>
                  <a:srgbClr val="0B163F"/>
                </a:solidFill>
              </a:rPr>
              <a:t>Financial time series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BA95B6-C1BE-460C-925E-C5FEE9746CDC}"/>
              </a:ext>
            </a:extLst>
          </p:cNvPr>
          <p:cNvSpPr>
            <a:spLocks noGrp="1"/>
          </p:cNvSpPr>
          <p:nvPr/>
        </p:nvSpPr>
        <p:spPr>
          <a:xfrm>
            <a:off x="590550" y="27527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0B163F"/>
                </a:solidFill>
              </a:defRPr>
            </a:pPr>
            <a:r>
              <a:rPr sz="1500" b="1">
                <a:solidFill>
                  <a:srgbClr val="0B163F"/>
                </a:solidFill>
              </a:rPr>
              <a:t>Limit order books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B00C6-B5DA-426F-AC70-94685F7F8E9E}"/>
              </a:ext>
            </a:extLst>
          </p:cNvPr>
          <p:cNvSpPr>
            <a:spLocks noGrp="1"/>
          </p:cNvSpPr>
          <p:nvPr/>
        </p:nvSpPr>
        <p:spPr>
          <a:xfrm>
            <a:off x="590550" y="36290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0B163F"/>
                </a:solidFill>
              </a:defRPr>
            </a:pPr>
            <a:r>
              <a:rPr sz="1500" b="1">
                <a:solidFill>
                  <a:srgbClr val="0B163F"/>
                </a:solidFill>
              </a:rPr>
              <a:t>Tabular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B752EE-DD51-4310-9BB8-BCD9BF7D3EEB}"/>
              </a:ext>
            </a:extLst>
          </p:cNvPr>
          <p:cNvSpPr>
            <a:spLocks noGrp="1"/>
          </p:cNvSpPr>
          <p:nvPr/>
        </p:nvSpPr>
        <p:spPr>
          <a:xfrm>
            <a:off x="590550" y="45053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>
                <a:solidFill>
                  <a:srgbClr val="0B163F"/>
                </a:solidFill>
              </a:defRPr>
            </a:pPr>
            <a:r>
              <a:rPr sz="1500" b="1">
                <a:solidFill>
                  <a:srgbClr val="0B163F"/>
                </a:solidFill>
              </a:rPr>
              <a:t>Structured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7AB203-BB86-40F3-9F19-738E876D16EE}"/>
              </a:ext>
            </a:extLst>
          </p:cNvPr>
          <p:cNvSpPr>
            <a:spLocks noGrp="1"/>
          </p:cNvSpPr>
          <p:nvPr/>
        </p:nvSpPr>
        <p:spPr>
          <a:xfrm>
            <a:off x="3000375" y="1571625"/>
            <a:ext cx="1952625" cy="876300"/>
          </a:xfrm>
          <a:prstGeom prst="rect">
            <a:avLst/>
          </a:prstGeom>
          <a:solidFill>
            <a:srgbClr val="EAF4FF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BBCC58-CF0C-4EEA-892A-87C692DF07FB}"/>
              </a:ext>
            </a:extLst>
          </p:cNvPr>
          <p:cNvSpPr>
            <a:spLocks noGrp="1"/>
          </p:cNvSpPr>
          <p:nvPr/>
        </p:nvSpPr>
        <p:spPr>
          <a:xfrm>
            <a:off x="3543349" y="1576436"/>
            <a:ext cx="866678" cy="866678"/>
          </a:xfrm>
          <a:prstGeom prst="ellipse">
            <a:avLst/>
          </a:prstGeom>
          <a:noFill/>
          <a:ln w="23813">
            <a:solidFill>
              <a:srgbClr val="116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B64EBA-55AF-4155-A61E-BDA1FD6810A2}"/>
              </a:ext>
            </a:extLst>
          </p:cNvPr>
          <p:cNvSpPr>
            <a:spLocks noGrp="1"/>
          </p:cNvSpPr>
          <p:nvPr/>
        </p:nvSpPr>
        <p:spPr>
          <a:xfrm>
            <a:off x="3610024" y="1643111"/>
            <a:ext cx="733328" cy="733328"/>
          </a:xfrm>
          <a:prstGeom prst="ellipse">
            <a:avLst/>
          </a:prstGeom>
          <a:solidFill>
            <a:srgbClr val="0B57A3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2598" b="1">
                <a:solidFill>
                  <a:srgbClr val="FFFFFF"/>
                </a:solidFill>
              </a:defRPr>
            </a:pPr>
            <a:r>
              <a:rPr sz="2598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40D2CE-4B20-472D-A05B-99A82369E027}"/>
              </a:ext>
            </a:extLst>
          </p:cNvPr>
          <p:cNvSpPr>
            <a:spLocks noGrp="1"/>
          </p:cNvSpPr>
          <p:nvPr/>
        </p:nvSpPr>
        <p:spPr>
          <a:xfrm>
            <a:off x="4953000" y="1571625"/>
            <a:ext cx="1952625" cy="876300"/>
          </a:xfrm>
          <a:prstGeom prst="rect">
            <a:avLst/>
          </a:prstGeom>
          <a:solidFill>
            <a:srgbClr val="E8FBF7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1558D78-D7A3-4814-A937-6574B4F75B44}"/>
              </a:ext>
            </a:extLst>
          </p:cNvPr>
          <p:cNvSpPr>
            <a:spLocks noGrp="1"/>
          </p:cNvSpPr>
          <p:nvPr/>
        </p:nvSpPr>
        <p:spPr>
          <a:xfrm>
            <a:off x="5480054" y="1560516"/>
            <a:ext cx="898517" cy="898517"/>
          </a:xfrm>
          <a:prstGeom prst="ellipse">
            <a:avLst/>
          </a:prstGeom>
          <a:solidFill>
            <a:srgbClr val="078A7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3184" b="1">
                <a:solidFill>
                  <a:srgbClr val="FFFFFF"/>
                </a:solidFill>
              </a:defRPr>
            </a:pPr>
            <a:r>
              <a:rPr sz="3184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C18D82-D561-45EC-8BE5-CB684F3593D1}"/>
              </a:ext>
            </a:extLst>
          </p:cNvPr>
          <p:cNvSpPr>
            <a:spLocks noGrp="1"/>
          </p:cNvSpPr>
          <p:nvPr/>
        </p:nvSpPr>
        <p:spPr>
          <a:xfrm>
            <a:off x="6905625" y="1571625"/>
            <a:ext cx="1952625" cy="876300"/>
          </a:xfrm>
          <a:prstGeom prst="rect">
            <a:avLst/>
          </a:prstGeom>
          <a:solidFill>
            <a:srgbClr val="FFF8DF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6ECAE98-7F6F-4ECF-9AEB-F158CAFD4098}"/>
              </a:ext>
            </a:extLst>
          </p:cNvPr>
          <p:cNvSpPr>
            <a:spLocks noGrp="1"/>
          </p:cNvSpPr>
          <p:nvPr/>
        </p:nvSpPr>
        <p:spPr>
          <a:xfrm>
            <a:off x="7558088" y="1685925"/>
            <a:ext cx="647700" cy="647700"/>
          </a:xfrm>
          <a:prstGeom prst="ellipse">
            <a:avLst/>
          </a:prstGeom>
          <a:solidFill>
            <a:srgbClr val="D8A400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2295" b="1">
                <a:solidFill>
                  <a:srgbClr val="FFFFFF"/>
                </a:solidFill>
              </a:defRPr>
            </a:pPr>
            <a:r>
              <a:rPr sz="229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0D6880-9C7E-4A7C-A6A4-5566296098B8}"/>
              </a:ext>
            </a:extLst>
          </p:cNvPr>
          <p:cNvSpPr>
            <a:spLocks noGrp="1"/>
          </p:cNvSpPr>
          <p:nvPr/>
        </p:nvSpPr>
        <p:spPr>
          <a:xfrm>
            <a:off x="8858250" y="1571625"/>
            <a:ext cx="1952625" cy="876300"/>
          </a:xfrm>
          <a:prstGeom prst="rect">
            <a:avLst/>
          </a:prstGeom>
          <a:solidFill>
            <a:srgbClr val="F5EFFF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D38973-C013-48B8-BCCB-ED8D9F846E21}"/>
              </a:ext>
            </a:extLst>
          </p:cNvPr>
          <p:cNvSpPr>
            <a:spLocks noGrp="1"/>
          </p:cNvSpPr>
          <p:nvPr/>
        </p:nvSpPr>
        <p:spPr>
          <a:xfrm>
            <a:off x="3000375" y="2447925"/>
            <a:ext cx="1952625" cy="876300"/>
          </a:xfrm>
          <a:prstGeom prst="rect">
            <a:avLst/>
          </a:prstGeom>
          <a:solidFill>
            <a:srgbClr val="EAF4FF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E0520D-1F35-453E-B5C4-BC8A37F19EAC}"/>
              </a:ext>
            </a:extLst>
          </p:cNvPr>
          <p:cNvSpPr>
            <a:spLocks noGrp="1"/>
          </p:cNvSpPr>
          <p:nvPr/>
        </p:nvSpPr>
        <p:spPr>
          <a:xfrm>
            <a:off x="3524655" y="2434042"/>
            <a:ext cx="904066" cy="904066"/>
          </a:xfrm>
          <a:prstGeom prst="ellipse">
            <a:avLst/>
          </a:prstGeom>
          <a:noFill/>
          <a:ln w="23813">
            <a:solidFill>
              <a:srgbClr val="116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8B0D8B5-511E-40A0-9CC9-32AB3EEA4545}"/>
              </a:ext>
            </a:extLst>
          </p:cNvPr>
          <p:cNvSpPr>
            <a:spLocks noGrp="1"/>
          </p:cNvSpPr>
          <p:nvPr/>
        </p:nvSpPr>
        <p:spPr>
          <a:xfrm>
            <a:off x="3591330" y="2500717"/>
            <a:ext cx="770716" cy="770716"/>
          </a:xfrm>
          <a:prstGeom prst="ellipse">
            <a:avLst/>
          </a:prstGeom>
          <a:solidFill>
            <a:srgbClr val="0B57A3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2731" b="1">
                <a:solidFill>
                  <a:srgbClr val="FFFFFF"/>
                </a:solidFill>
              </a:defRPr>
            </a:pPr>
            <a:r>
              <a:rPr sz="2731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DCB0F4-E424-485B-8688-84FED188C35E}"/>
              </a:ext>
            </a:extLst>
          </p:cNvPr>
          <p:cNvSpPr>
            <a:spLocks noGrp="1"/>
          </p:cNvSpPr>
          <p:nvPr/>
        </p:nvSpPr>
        <p:spPr>
          <a:xfrm>
            <a:off x="4953000" y="2447925"/>
            <a:ext cx="1952625" cy="876300"/>
          </a:xfrm>
          <a:prstGeom prst="rect">
            <a:avLst/>
          </a:prstGeom>
          <a:solidFill>
            <a:srgbClr val="E8FBF7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9981A53-72AE-4343-B866-13D7098482D6}"/>
              </a:ext>
            </a:extLst>
          </p:cNvPr>
          <p:cNvSpPr>
            <a:spLocks noGrp="1"/>
          </p:cNvSpPr>
          <p:nvPr/>
        </p:nvSpPr>
        <p:spPr>
          <a:xfrm>
            <a:off x="5661259" y="2618021"/>
            <a:ext cx="536108" cy="536108"/>
          </a:xfrm>
          <a:prstGeom prst="ellipse">
            <a:avLst/>
          </a:prstGeom>
          <a:solidFill>
            <a:srgbClr val="078A7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0C246A-0A41-47B5-964C-64BF9223BB20}"/>
              </a:ext>
            </a:extLst>
          </p:cNvPr>
          <p:cNvSpPr>
            <a:spLocks noGrp="1"/>
          </p:cNvSpPr>
          <p:nvPr/>
        </p:nvSpPr>
        <p:spPr>
          <a:xfrm>
            <a:off x="6905625" y="2447925"/>
            <a:ext cx="1952625" cy="876300"/>
          </a:xfrm>
          <a:prstGeom prst="rect">
            <a:avLst/>
          </a:prstGeom>
          <a:solidFill>
            <a:srgbClr val="FFF8DF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FDDE84-03D0-412C-87E9-CA6D0B7A589F}"/>
              </a:ext>
            </a:extLst>
          </p:cNvPr>
          <p:cNvSpPr>
            <a:spLocks noGrp="1"/>
          </p:cNvSpPr>
          <p:nvPr/>
        </p:nvSpPr>
        <p:spPr>
          <a:xfrm>
            <a:off x="8858250" y="2447925"/>
            <a:ext cx="1952625" cy="876300"/>
          </a:xfrm>
          <a:prstGeom prst="rect">
            <a:avLst/>
          </a:prstGeom>
          <a:solidFill>
            <a:srgbClr val="F5EFFF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76820A-81F8-490D-B51F-522FA6BCECE6}"/>
              </a:ext>
            </a:extLst>
          </p:cNvPr>
          <p:cNvSpPr>
            <a:spLocks noGrp="1"/>
          </p:cNvSpPr>
          <p:nvPr/>
        </p:nvSpPr>
        <p:spPr>
          <a:xfrm>
            <a:off x="3000375" y="3324225"/>
            <a:ext cx="1952625" cy="876300"/>
          </a:xfrm>
          <a:prstGeom prst="rect">
            <a:avLst/>
          </a:prstGeom>
          <a:solidFill>
            <a:srgbClr val="EAF4FF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2681DA3-2FD7-4D7D-8839-D4808F3E63A2}"/>
              </a:ext>
            </a:extLst>
          </p:cNvPr>
          <p:cNvSpPr>
            <a:spLocks noGrp="1"/>
          </p:cNvSpPr>
          <p:nvPr/>
        </p:nvSpPr>
        <p:spPr>
          <a:xfrm>
            <a:off x="3507255" y="3292942"/>
            <a:ext cx="938865" cy="938865"/>
          </a:xfrm>
          <a:prstGeom prst="ellipse">
            <a:avLst/>
          </a:prstGeom>
          <a:noFill/>
          <a:ln w="23813">
            <a:solidFill>
              <a:srgbClr val="116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F280FFC-9AB8-4B17-84D6-18CFA9CAB99C}"/>
              </a:ext>
            </a:extLst>
          </p:cNvPr>
          <p:cNvSpPr>
            <a:spLocks noGrp="1"/>
          </p:cNvSpPr>
          <p:nvPr/>
        </p:nvSpPr>
        <p:spPr>
          <a:xfrm>
            <a:off x="3573930" y="3359617"/>
            <a:ext cx="805515" cy="805515"/>
          </a:xfrm>
          <a:prstGeom prst="ellipse">
            <a:avLst/>
          </a:prstGeom>
          <a:solidFill>
            <a:srgbClr val="0B57A3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2854" b="1">
                <a:solidFill>
                  <a:srgbClr val="FFFFFF"/>
                </a:solidFill>
              </a:defRPr>
            </a:pPr>
            <a:r>
              <a:rPr sz="2854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C653F5-0A52-4DAB-A4CC-391C149A26E9}"/>
              </a:ext>
            </a:extLst>
          </p:cNvPr>
          <p:cNvSpPr>
            <a:spLocks noGrp="1"/>
          </p:cNvSpPr>
          <p:nvPr/>
        </p:nvSpPr>
        <p:spPr>
          <a:xfrm>
            <a:off x="4953000" y="3324225"/>
            <a:ext cx="1952625" cy="876300"/>
          </a:xfrm>
          <a:prstGeom prst="rect">
            <a:avLst/>
          </a:prstGeom>
          <a:solidFill>
            <a:srgbClr val="E8FBF7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651BDC9-354C-4E31-9C4A-1CC2C6C6C8D8}"/>
              </a:ext>
            </a:extLst>
          </p:cNvPr>
          <p:cNvSpPr>
            <a:spLocks noGrp="1"/>
          </p:cNvSpPr>
          <p:nvPr/>
        </p:nvSpPr>
        <p:spPr>
          <a:xfrm>
            <a:off x="5700713" y="3533775"/>
            <a:ext cx="457200" cy="457200"/>
          </a:xfrm>
          <a:prstGeom prst="ellipse">
            <a:avLst/>
          </a:prstGeom>
          <a:solidFill>
            <a:srgbClr val="078A7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620" b="1">
                <a:solidFill>
                  <a:srgbClr val="FFFFFF"/>
                </a:solidFill>
              </a:defRPr>
            </a:pPr>
            <a:r>
              <a:rPr sz="162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AD1CDA-CE69-43F7-B928-617C9E980184}"/>
              </a:ext>
            </a:extLst>
          </p:cNvPr>
          <p:cNvSpPr>
            <a:spLocks noGrp="1"/>
          </p:cNvSpPr>
          <p:nvPr/>
        </p:nvSpPr>
        <p:spPr>
          <a:xfrm>
            <a:off x="6905625" y="3324225"/>
            <a:ext cx="1952625" cy="876300"/>
          </a:xfrm>
          <a:prstGeom prst="rect">
            <a:avLst/>
          </a:prstGeom>
          <a:solidFill>
            <a:srgbClr val="FFF8DF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9FC05F-8444-4AE9-9F84-23FA06700265}"/>
              </a:ext>
            </a:extLst>
          </p:cNvPr>
          <p:cNvSpPr>
            <a:spLocks noGrp="1"/>
          </p:cNvSpPr>
          <p:nvPr/>
        </p:nvSpPr>
        <p:spPr>
          <a:xfrm>
            <a:off x="8858250" y="3324225"/>
            <a:ext cx="1952625" cy="876300"/>
          </a:xfrm>
          <a:prstGeom prst="rect">
            <a:avLst/>
          </a:prstGeom>
          <a:solidFill>
            <a:srgbClr val="F5EFFF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F3CA0CF-BCBD-4799-B4A4-058F78E9AB00}"/>
              </a:ext>
            </a:extLst>
          </p:cNvPr>
          <p:cNvSpPr>
            <a:spLocks noGrp="1"/>
          </p:cNvSpPr>
          <p:nvPr/>
        </p:nvSpPr>
        <p:spPr>
          <a:xfrm>
            <a:off x="9510713" y="3438525"/>
            <a:ext cx="647700" cy="647700"/>
          </a:xfrm>
          <a:prstGeom prst="ellipse">
            <a:avLst/>
          </a:prstGeom>
          <a:solidFill>
            <a:srgbClr val="6F45B3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2295" b="1">
                <a:solidFill>
                  <a:srgbClr val="FFFFFF"/>
                </a:solidFill>
              </a:defRPr>
            </a:pPr>
            <a:r>
              <a:rPr sz="229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25190E-B5B0-4F94-877E-D29123E9C70B}"/>
              </a:ext>
            </a:extLst>
          </p:cNvPr>
          <p:cNvSpPr>
            <a:spLocks noGrp="1"/>
          </p:cNvSpPr>
          <p:nvPr/>
        </p:nvSpPr>
        <p:spPr>
          <a:xfrm>
            <a:off x="3000375" y="4200525"/>
            <a:ext cx="1952625" cy="876300"/>
          </a:xfrm>
          <a:prstGeom prst="rect">
            <a:avLst/>
          </a:prstGeom>
          <a:solidFill>
            <a:srgbClr val="EAF4FF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769277-5065-4677-8E3C-FF0769A9745A}"/>
              </a:ext>
            </a:extLst>
          </p:cNvPr>
          <p:cNvSpPr>
            <a:spLocks noGrp="1"/>
          </p:cNvSpPr>
          <p:nvPr/>
        </p:nvSpPr>
        <p:spPr>
          <a:xfrm>
            <a:off x="3748088" y="4410075"/>
            <a:ext cx="457200" cy="457200"/>
          </a:xfrm>
          <a:prstGeom prst="ellipse">
            <a:avLst/>
          </a:prstGeom>
          <a:solidFill>
            <a:srgbClr val="0B57A3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620" b="1">
                <a:solidFill>
                  <a:srgbClr val="FFFFFF"/>
                </a:solidFill>
              </a:defRPr>
            </a:pPr>
            <a:r>
              <a:rPr sz="162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0DFF3C-BA9E-4835-858E-8DB82A9841EC}"/>
              </a:ext>
            </a:extLst>
          </p:cNvPr>
          <p:cNvSpPr>
            <a:spLocks noGrp="1"/>
          </p:cNvSpPr>
          <p:nvPr/>
        </p:nvSpPr>
        <p:spPr>
          <a:xfrm>
            <a:off x="4953000" y="4200525"/>
            <a:ext cx="1952625" cy="876300"/>
          </a:xfrm>
          <a:prstGeom prst="rect">
            <a:avLst/>
          </a:prstGeom>
          <a:solidFill>
            <a:srgbClr val="E8FBF7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A70DBA3-CF95-4867-8716-F1C65D011EE2}"/>
              </a:ext>
            </a:extLst>
          </p:cNvPr>
          <p:cNvSpPr>
            <a:spLocks noGrp="1"/>
          </p:cNvSpPr>
          <p:nvPr/>
        </p:nvSpPr>
        <p:spPr>
          <a:xfrm>
            <a:off x="5634038" y="4343400"/>
            <a:ext cx="590550" cy="590550"/>
          </a:xfrm>
          <a:prstGeom prst="ellipse">
            <a:avLst/>
          </a:prstGeom>
          <a:noFill/>
          <a:ln w="23813">
            <a:solidFill>
              <a:srgbClr val="116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F56FFB2-057D-466C-B8DB-E35C3E54CA4A}"/>
              </a:ext>
            </a:extLst>
          </p:cNvPr>
          <p:cNvSpPr>
            <a:spLocks noGrp="1"/>
          </p:cNvSpPr>
          <p:nvPr/>
        </p:nvSpPr>
        <p:spPr>
          <a:xfrm>
            <a:off x="5700713" y="4410075"/>
            <a:ext cx="457200" cy="457200"/>
          </a:xfrm>
          <a:prstGeom prst="ellipse">
            <a:avLst/>
          </a:prstGeom>
          <a:solidFill>
            <a:srgbClr val="078A7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620" b="1">
                <a:solidFill>
                  <a:srgbClr val="FFFFFF"/>
                </a:solidFill>
              </a:defRPr>
            </a:pPr>
            <a:r>
              <a:rPr sz="162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D9DD9CA-035F-45B8-AB4E-4B060BB9945A}"/>
              </a:ext>
            </a:extLst>
          </p:cNvPr>
          <p:cNvSpPr>
            <a:spLocks noGrp="1"/>
          </p:cNvSpPr>
          <p:nvPr/>
        </p:nvSpPr>
        <p:spPr>
          <a:xfrm>
            <a:off x="6905625" y="4200525"/>
            <a:ext cx="1952625" cy="876300"/>
          </a:xfrm>
          <a:prstGeom prst="rect">
            <a:avLst/>
          </a:prstGeom>
          <a:solidFill>
            <a:srgbClr val="FFF8DF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F780A8E-F621-4651-BFC7-7D18BD6F693C}"/>
              </a:ext>
            </a:extLst>
          </p:cNvPr>
          <p:cNvSpPr>
            <a:spLocks noGrp="1"/>
          </p:cNvSpPr>
          <p:nvPr/>
        </p:nvSpPr>
        <p:spPr>
          <a:xfrm>
            <a:off x="7515274" y="4272011"/>
            <a:ext cx="733328" cy="733328"/>
          </a:xfrm>
          <a:prstGeom prst="ellipse">
            <a:avLst/>
          </a:prstGeom>
          <a:solidFill>
            <a:srgbClr val="D8A400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2598" b="1">
                <a:solidFill>
                  <a:srgbClr val="FFFFFF"/>
                </a:solidFill>
              </a:defRPr>
            </a:pPr>
            <a:r>
              <a:rPr sz="2598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28E203-E5D2-4005-A7B2-16222BDD9B66}"/>
              </a:ext>
            </a:extLst>
          </p:cNvPr>
          <p:cNvSpPr>
            <a:spLocks noGrp="1"/>
          </p:cNvSpPr>
          <p:nvPr/>
        </p:nvSpPr>
        <p:spPr>
          <a:xfrm>
            <a:off x="8858250" y="4200525"/>
            <a:ext cx="1952625" cy="876300"/>
          </a:xfrm>
          <a:prstGeom prst="rect">
            <a:avLst/>
          </a:prstGeom>
          <a:solidFill>
            <a:srgbClr val="F5EFFF"/>
          </a:solidFill>
          <a:ln w="9525">
            <a:solidFill>
              <a:srgbClr val="D0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D490DE9-8704-4D81-BC08-076C46F431CD}"/>
              </a:ext>
            </a:extLst>
          </p:cNvPr>
          <p:cNvSpPr>
            <a:spLocks noGrp="1"/>
          </p:cNvSpPr>
          <p:nvPr/>
        </p:nvSpPr>
        <p:spPr>
          <a:xfrm>
            <a:off x="3028950" y="5819775"/>
            <a:ext cx="323850" cy="323850"/>
          </a:xfrm>
          <a:prstGeom prst="ellipse">
            <a:avLst/>
          </a:prstGeom>
          <a:solidFill>
            <a:srgbClr val="0B57A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55BCA87-F1C4-419B-BD68-92292CD7C2BF}"/>
              </a:ext>
            </a:extLst>
          </p:cNvPr>
          <p:cNvSpPr>
            <a:spLocks noGrp="1"/>
          </p:cNvSpPr>
          <p:nvPr/>
        </p:nvSpPr>
        <p:spPr>
          <a:xfrm>
            <a:off x="3476625" y="58388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63F"/>
                </a:solidFill>
              </a:defRPr>
            </a:pPr>
            <a:r>
              <a:rPr sz="1350" b="0">
                <a:solidFill>
                  <a:srgbClr val="0B163F"/>
                </a:solidFill>
              </a:rPr>
              <a:t>Bubble size = paper count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346257B-7A0F-4A7A-8DFF-211323DBC066}"/>
              </a:ext>
            </a:extLst>
          </p:cNvPr>
          <p:cNvSpPr>
            <a:spLocks noGrp="1"/>
          </p:cNvSpPr>
          <p:nvPr/>
        </p:nvSpPr>
        <p:spPr>
          <a:xfrm>
            <a:off x="6667500" y="5819775"/>
            <a:ext cx="342900" cy="342900"/>
          </a:xfrm>
          <a:prstGeom prst="ellipse">
            <a:avLst/>
          </a:prstGeom>
          <a:noFill/>
          <a:ln w="23813">
            <a:solidFill>
              <a:srgbClr val="116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87D7B74-C41E-4459-9CA9-EF404C1E1970}"/>
              </a:ext>
            </a:extLst>
          </p:cNvPr>
          <p:cNvSpPr>
            <a:spLocks noGrp="1"/>
          </p:cNvSpPr>
          <p:nvPr/>
        </p:nvSpPr>
        <p:spPr>
          <a:xfrm>
            <a:off x="7143750" y="583882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B163F"/>
                </a:solidFill>
              </a:defRPr>
            </a:pPr>
            <a:r>
              <a:rPr sz="1350" b="0">
                <a:solidFill>
                  <a:srgbClr val="0B163F"/>
                </a:solidFill>
              </a:rPr>
              <a:t>Blue ring = open-source code available</a:t>
            </a:r>
          </a:p>
        </p:txBody>
      </p:sp>
    </p:spTree>
    <p:extLst>
      <p:ext uri="{BB962C8B-B14F-4D97-AF65-F5344CB8AC3E}">
        <p14:creationId xmlns:p14="http://schemas.microsoft.com/office/powerpoint/2010/main" val="1083821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Macintosh PowerPoint</Application>
  <DocSecurity>0</DocSecurity>
  <PresentationFormat>Widescreen</PresentationFormat>
  <Paragraphs>58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846061721@qq.com</cp:lastModifiedBy>
  <cp:revision>1</cp:revision>
  <dcterms:created xsi:type="dcterms:W3CDTF">2026-07-24T22:14:15Z</dcterms:created>
  <dcterms:modified xsi:type="dcterms:W3CDTF">2026-07-24T22:19:28Z</dcterms:modified>
</cp:coreProperties>
</file>